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8"/>
  </p:notesMasterIdLst>
  <p:handoutMasterIdLst>
    <p:handoutMasterId r:id="rId69"/>
  </p:handoutMasterIdLst>
  <p:sldIdLst>
    <p:sldId id="257" r:id="rId5"/>
    <p:sldId id="268" r:id="rId6"/>
    <p:sldId id="272" r:id="rId7"/>
    <p:sldId id="274" r:id="rId8"/>
    <p:sldId id="275" r:id="rId9"/>
    <p:sldId id="276"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1"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 id="313" r:id="rId43"/>
    <p:sldId id="314" r:id="rId44"/>
    <p:sldId id="315" r:id="rId45"/>
    <p:sldId id="316" r:id="rId46"/>
    <p:sldId id="327" r:id="rId47"/>
    <p:sldId id="317" r:id="rId48"/>
    <p:sldId id="318" r:id="rId49"/>
    <p:sldId id="319" r:id="rId50"/>
    <p:sldId id="320" r:id="rId51"/>
    <p:sldId id="321" r:id="rId52"/>
    <p:sldId id="322" r:id="rId53"/>
    <p:sldId id="323" r:id="rId54"/>
    <p:sldId id="324" r:id="rId55"/>
    <p:sldId id="325" r:id="rId56"/>
    <p:sldId id="326" r:id="rId57"/>
    <p:sldId id="328" r:id="rId58"/>
    <p:sldId id="329" r:id="rId59"/>
    <p:sldId id="332" r:id="rId60"/>
    <p:sldId id="331" r:id="rId61"/>
    <p:sldId id="333" r:id="rId62"/>
    <p:sldId id="334" r:id="rId63"/>
    <p:sldId id="335" r:id="rId64"/>
    <p:sldId id="336" r:id="rId65"/>
    <p:sldId id="337" r:id="rId66"/>
    <p:sldId id="273" r:id="rId6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p:cViewPr varScale="1">
        <p:scale>
          <a:sx n="113" d="100"/>
          <a:sy n="113" d="100"/>
        </p:scale>
        <p:origin x="198" y="114"/>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9/7/2026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9/7/2026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9/7/2026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9/7/2026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9/7/2026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9/7/2026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9/7/2026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9/7/2026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9/7/2026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react.dev/" TargetMode="External"/><Relationship Id="rId7" Type="http://schemas.openxmlformats.org/officeDocument/2006/relationships/hyperlink" Target="https://developer.mozilla.org/" TargetMode="External"/><Relationship Id="rId2" Type="http://schemas.openxmlformats.org/officeDocument/2006/relationships/hyperlink" Target="https://nodejs.org/docs/latest-v18.x/api/" TargetMode="External"/><Relationship Id="rId1" Type="http://schemas.openxmlformats.org/officeDocument/2006/relationships/slideLayout" Target="../slideLayouts/slideLayout2.xml"/><Relationship Id="rId6" Type="http://schemas.openxmlformats.org/officeDocument/2006/relationships/hyperlink" Target="https://vitejs.dev/guide/" TargetMode="External"/><Relationship Id="rId5" Type="http://schemas.openxmlformats.org/officeDocument/2006/relationships/hyperlink" Target="https://mongoosejs.com/docs/api.html" TargetMode="External"/><Relationship Id="rId4" Type="http://schemas.openxmlformats.org/officeDocument/2006/relationships/hyperlink" Target="https://expressjs.com/en/4x/api.htm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5176" y="188640"/>
            <a:ext cx="8735325" cy="1476648"/>
          </a:xfrm>
        </p:spPr>
        <p:txBody>
          <a:bodyPr/>
          <a:lstStyle/>
          <a:p>
            <a:pPr algn="ctr"/>
            <a:r>
              <a:rPr lang="en-US" b="1" dirty="0"/>
              <a:t>Marketa</a:t>
            </a:r>
            <a:endParaRPr lang="en-IN" dirty="0"/>
          </a:p>
        </p:txBody>
      </p:sp>
      <p:sp>
        <p:nvSpPr>
          <p:cNvPr id="5" name="Subtitle 4"/>
          <p:cNvSpPr>
            <a:spLocks noGrp="1"/>
          </p:cNvSpPr>
          <p:nvPr>
            <p:ph type="subTitle" idx="1"/>
          </p:nvPr>
        </p:nvSpPr>
        <p:spPr>
          <a:xfrm>
            <a:off x="1625176" y="1988841"/>
            <a:ext cx="8735325" cy="4284958"/>
          </a:xfrm>
        </p:spPr>
        <p:txBody>
          <a:bodyPr>
            <a:normAutofit fontScale="92500" lnSpcReduction="10000"/>
          </a:bodyPr>
          <a:lstStyle/>
          <a:p>
            <a:endParaRPr lang="en-US" b="1" dirty="0">
              <a:solidFill>
                <a:schemeClr val="tx1"/>
              </a:solidFill>
            </a:endParaRPr>
          </a:p>
          <a:p>
            <a:r>
              <a:rPr lang="en-US" b="1" dirty="0">
                <a:solidFill>
                  <a:schemeClr val="tx1"/>
                </a:solidFill>
              </a:rPr>
              <a:t>Group Members:</a:t>
            </a:r>
          </a:p>
          <a:p>
            <a:r>
              <a:rPr lang="en-US" dirty="0">
                <a:solidFill>
                  <a:schemeClr val="tx1"/>
                </a:solidFill>
              </a:rPr>
              <a:t>Nevil Aghera 	92500584012</a:t>
            </a:r>
            <a:endParaRPr lang="en-IN" dirty="0">
              <a:solidFill>
                <a:schemeClr val="tx1"/>
              </a:solidFill>
            </a:endParaRPr>
          </a:p>
          <a:p>
            <a:r>
              <a:rPr lang="en-US" dirty="0">
                <a:solidFill>
                  <a:schemeClr val="tx1"/>
                </a:solidFill>
              </a:rPr>
              <a:t>Jenil Kothiya	92500584026</a:t>
            </a:r>
            <a:endParaRPr lang="en-IN" dirty="0">
              <a:solidFill>
                <a:schemeClr val="tx1"/>
              </a:solidFill>
            </a:endParaRPr>
          </a:p>
          <a:p>
            <a:r>
              <a:rPr lang="en-US" dirty="0" err="1">
                <a:solidFill>
                  <a:schemeClr val="tx1"/>
                </a:solidFill>
              </a:rPr>
              <a:t>Avesh</a:t>
            </a:r>
            <a:r>
              <a:rPr lang="en-US" dirty="0">
                <a:solidFill>
                  <a:schemeClr val="tx1"/>
                </a:solidFill>
              </a:rPr>
              <a:t> Kadari </a:t>
            </a:r>
            <a:r>
              <a:rPr lang="en-US">
                <a:solidFill>
                  <a:schemeClr val="tx1"/>
                </a:solidFill>
              </a:rPr>
              <a:t>	92500584027</a:t>
            </a:r>
            <a:endParaRPr lang="en-US" dirty="0">
              <a:solidFill>
                <a:schemeClr val="tx1"/>
              </a:solidFill>
            </a:endParaRPr>
          </a:p>
          <a:p>
            <a:endParaRPr lang="en-US" b="1" dirty="0">
              <a:solidFill>
                <a:schemeClr val="tx1"/>
              </a:solidFill>
            </a:endParaRPr>
          </a:p>
          <a:p>
            <a:r>
              <a:rPr lang="en-US" b="1" dirty="0">
                <a:solidFill>
                  <a:schemeClr val="tx1"/>
                </a:solidFill>
              </a:rPr>
              <a:t>internal Guide : </a:t>
            </a:r>
          </a:p>
          <a:p>
            <a:r>
              <a:rPr lang="en-US" dirty="0">
                <a:solidFill>
                  <a:schemeClr val="tx1"/>
                </a:solidFill>
              </a:rPr>
              <a:t>dr. Ashwin Dobariya</a:t>
            </a:r>
          </a:p>
          <a:p>
            <a:endParaRPr lang="en-US" b="1" dirty="0">
              <a:solidFill>
                <a:schemeClr val="tx1"/>
              </a:solidFill>
            </a:endParaRPr>
          </a:p>
          <a:p>
            <a:r>
              <a:rPr lang="en-US" b="1" dirty="0" err="1">
                <a:solidFill>
                  <a:schemeClr val="tx1"/>
                </a:solidFill>
              </a:rPr>
              <a:t>Mca</a:t>
            </a:r>
            <a:r>
              <a:rPr lang="en-US" b="1" dirty="0">
                <a:solidFill>
                  <a:schemeClr val="tx1"/>
                </a:solidFill>
              </a:rPr>
              <a:t> 3a </a:t>
            </a:r>
          </a:p>
          <a:p>
            <a:r>
              <a:rPr lang="en-US" b="1" dirty="0">
                <a:solidFill>
                  <a:schemeClr val="tx1"/>
                </a:solidFill>
              </a:rPr>
              <a:t>Group no : 02</a:t>
            </a:r>
          </a:p>
          <a:p>
            <a:endParaRPr lang="en-IN" dirty="0"/>
          </a:p>
          <a:p>
            <a:r>
              <a:rPr lang="en-US" dirty="0"/>
              <a:t> </a:t>
            </a:r>
            <a:endParaRPr lang="en-IN" dirty="0"/>
          </a:p>
          <a:p>
            <a:endParaRPr lang="en-IN" dirty="0">
              <a:solidFill>
                <a:schemeClr val="tx1"/>
              </a:solidFill>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18883" y="404664"/>
            <a:ext cx="10360501" cy="792088"/>
          </a:xfrm>
        </p:spPr>
        <p:txBody>
          <a:bodyPr/>
          <a:lstStyle/>
          <a:p>
            <a:pPr lvl="0" algn="ctr"/>
            <a:r>
              <a:rPr lang="en-US" b="1" dirty="0"/>
              <a:t>1. Introduction to Project Definition </a:t>
            </a:r>
            <a:endParaRPr lang="en-IN" dirty="0"/>
          </a:p>
        </p:txBody>
      </p:sp>
      <p:sp>
        <p:nvSpPr>
          <p:cNvPr id="14" name="Content Placeholder 13"/>
          <p:cNvSpPr>
            <a:spLocks noGrp="1"/>
          </p:cNvSpPr>
          <p:nvPr>
            <p:ph idx="1"/>
          </p:nvPr>
        </p:nvSpPr>
        <p:spPr>
          <a:xfrm>
            <a:off x="981844" y="1556793"/>
            <a:ext cx="11017223" cy="4680520"/>
          </a:xfrm>
        </p:spPr>
        <p:txBody>
          <a:bodyPr>
            <a:normAutofit fontScale="25000" lnSpcReduction="20000"/>
          </a:bodyPr>
          <a:lstStyle/>
          <a:p>
            <a:r>
              <a:rPr lang="en-IN" sz="8000" dirty="0"/>
              <a:t>MARKETA is a full-stack, enterprise-grade web application engineered using the MERN Stack (MongoDB, Express.js, React.js, Node.js) that digitizes, streamlines, and automates the complete operational workflow of modern supermarkets and retail grocery stores. </a:t>
            </a:r>
          </a:p>
          <a:p>
            <a:r>
              <a:rPr lang="en-IN" sz="8000" dirty="0"/>
              <a:t>In traditional retail environments, store managers and cashiers heavily rely on manual ledger books, disconnected spreadsheet files, physical receipts, and fragmented desktop software to manage daily business activities. These conventional methods present major operational bottlenecks:</a:t>
            </a:r>
          </a:p>
          <a:p>
            <a:pPr lvl="0"/>
            <a:r>
              <a:rPr lang="en-IN" sz="8000" dirty="0"/>
              <a:t>Manual Inventory Errors: Manual stock counting is time-consuming, highly susceptible to human miscalculations, and often leads to unrecorded inventory shrinkages or stockouts during peak business hours.</a:t>
            </a:r>
          </a:p>
          <a:p>
            <a:pPr lvl="0"/>
            <a:r>
              <a:rPr lang="en-IN" sz="8000" dirty="0"/>
              <a:t>Complex Supplier &amp; Purchase Management: Tracking vendor purchase orders, payment dues, and stock receipts across multiple suppliers leads to miscommunication and delayed inventory restocking.</a:t>
            </a:r>
          </a:p>
          <a:p>
            <a:pPr lvl="0"/>
            <a:r>
              <a:rPr lang="en-IN" sz="8000" dirty="0"/>
              <a:t>Inefficient Checkout &amp; Billing Queue: Manual pricing lookups and slow invoice generation result in long customer waiting times at billing counters.</a:t>
            </a:r>
          </a:p>
          <a:p>
            <a:pPr lvl="0"/>
            <a:r>
              <a:rPr lang="en-IN" sz="8000" dirty="0"/>
              <a:t>Lack of Real-Time Financial Visibility: Calculating net profits, gross margins, daily revenue, and tax liabilities manually at the end of each day or month is cumbersome and prone to financial discrepancies.</a:t>
            </a:r>
          </a:p>
          <a:p>
            <a:endParaRPr lang="en-US"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C5C2B-BD11-A0DE-819E-89590E4930EE}"/>
              </a:ext>
            </a:extLst>
          </p:cNvPr>
          <p:cNvSpPr>
            <a:spLocks noGrp="1"/>
          </p:cNvSpPr>
          <p:nvPr>
            <p:ph idx="1"/>
          </p:nvPr>
        </p:nvSpPr>
        <p:spPr/>
        <p:txBody>
          <a:bodyPr>
            <a:normAutofit lnSpcReduction="10000"/>
          </a:bodyPr>
          <a:lstStyle/>
          <a:p>
            <a:pPr algn="just"/>
            <a:r>
              <a:rPr lang="en-IN" sz="2000" b="1" dirty="0"/>
              <a:t>MARKETA</a:t>
            </a:r>
            <a:r>
              <a:rPr lang="en-IN" sz="2000" dirty="0"/>
              <a:t> solves these challenges by providing a unified, cloud-ready digital ecosystem.</a:t>
            </a:r>
          </a:p>
          <a:p>
            <a:pPr algn="just"/>
            <a:r>
              <a:rPr lang="en-IN" sz="2000" dirty="0"/>
              <a:t> where all supermarket operations—ranging from product </a:t>
            </a:r>
            <a:r>
              <a:rPr lang="en-IN" sz="2000" dirty="0" err="1"/>
              <a:t>cataloging</a:t>
            </a:r>
            <a:r>
              <a:rPr lang="en-IN" sz="2000" dirty="0"/>
              <a:t>, supplier management, and POS billing to automated inventory updates, low-stock alert notifications.</a:t>
            </a:r>
          </a:p>
          <a:p>
            <a:pPr algn="just"/>
            <a:r>
              <a:rPr lang="en-IN" sz="2000" dirty="0"/>
              <a:t> Multi-dimensional financial analytics—are managed seamlessly through an intuitive single-window dashboard.</a:t>
            </a:r>
          </a:p>
          <a:p>
            <a:pPr algn="just"/>
            <a:r>
              <a:rPr lang="en-IN" sz="2000" dirty="0"/>
              <a:t>By implementing strict Model-View-Controller (MVC) architectural separation on the backend and component-driven state management on the frontend.</a:t>
            </a:r>
          </a:p>
          <a:p>
            <a:pPr algn="just"/>
            <a:r>
              <a:rPr lang="en-IN" sz="2000" dirty="0"/>
              <a:t> the system provides high throughput, real-time data synchronization, multi-role security (Admin and Manager access controls with pending approval gates), and zero-licensing cost deployment.</a:t>
            </a:r>
          </a:p>
          <a:p>
            <a:pPr marL="0" indent="0" algn="just">
              <a:buNone/>
            </a:pPr>
            <a:br>
              <a:rPr lang="en-US" dirty="0"/>
            </a:br>
            <a:endParaRPr lang="en-IN" dirty="0"/>
          </a:p>
        </p:txBody>
      </p:sp>
    </p:spTree>
    <p:extLst>
      <p:ext uri="{BB962C8B-B14F-4D97-AF65-F5344CB8AC3E}">
        <p14:creationId xmlns:p14="http://schemas.microsoft.com/office/powerpoint/2010/main" val="3200607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8AF1-E3AC-F071-B13D-AA0CA4F5CBA3}"/>
              </a:ext>
            </a:extLst>
          </p:cNvPr>
          <p:cNvSpPr>
            <a:spLocks noGrp="1"/>
          </p:cNvSpPr>
          <p:nvPr>
            <p:ph type="title"/>
          </p:nvPr>
        </p:nvSpPr>
        <p:spPr>
          <a:xfrm>
            <a:off x="1218883" y="274637"/>
            <a:ext cx="10360501" cy="1066131"/>
          </a:xfrm>
        </p:spPr>
        <p:txBody>
          <a:bodyPr/>
          <a:lstStyle/>
          <a:p>
            <a:pPr algn="ctr"/>
            <a:r>
              <a:rPr lang="en-US" b="1" dirty="0"/>
              <a:t>2. PREAMBLE</a:t>
            </a:r>
            <a:endParaRPr lang="en-IN" dirty="0"/>
          </a:p>
        </p:txBody>
      </p:sp>
      <p:sp>
        <p:nvSpPr>
          <p:cNvPr id="3" name="Content Placeholder 2">
            <a:extLst>
              <a:ext uri="{FF2B5EF4-FFF2-40B4-BE49-F238E27FC236}">
                <a16:creationId xmlns:a16="http://schemas.microsoft.com/office/drawing/2014/main" id="{CB1F25E2-4FC8-67E6-B689-CF1830524157}"/>
              </a:ext>
            </a:extLst>
          </p:cNvPr>
          <p:cNvSpPr>
            <a:spLocks noGrp="1"/>
          </p:cNvSpPr>
          <p:nvPr>
            <p:ph idx="1"/>
          </p:nvPr>
        </p:nvSpPr>
        <p:spPr/>
        <p:txBody>
          <a:bodyPr>
            <a:normAutofit/>
          </a:bodyPr>
          <a:lstStyle/>
          <a:p>
            <a:pPr>
              <a:buFont typeface="Wingdings" panose="05000000000000000000" pitchFamily="2" charset="2"/>
              <a:buChar char="v"/>
            </a:pPr>
            <a:r>
              <a:rPr lang="en-US" sz="2500" dirty="0"/>
              <a:t> 2.1 </a:t>
            </a:r>
            <a:r>
              <a:rPr lang="en-IN" sz="2500" b="1" dirty="0"/>
              <a:t> </a:t>
            </a:r>
            <a:r>
              <a:rPr lang="en-US" sz="2500" b="1" dirty="0"/>
              <a:t>Synopsis :</a:t>
            </a:r>
          </a:p>
          <a:p>
            <a:pPr marL="0" indent="0">
              <a:buNone/>
            </a:pPr>
            <a:endParaRPr lang="en-US" b="1" dirty="0"/>
          </a:p>
          <a:p>
            <a:r>
              <a:rPr lang="en-IN" sz="2000" dirty="0"/>
              <a:t>MARKETA is a cloud-native Supermarket Management System designed and implemented using the MERN Stack. </a:t>
            </a:r>
          </a:p>
          <a:p>
            <a:r>
              <a:rPr lang="en-IN" sz="2000" dirty="0"/>
              <a:t>The application is built to transition brick-and-mortar retail enterprises into digitally managed, highly efficient smart supermarkets by eliminating manual paper-based processes and fragmented software workflows.</a:t>
            </a:r>
          </a:p>
          <a:p>
            <a:r>
              <a:rPr lang="en-IN" sz="2000" dirty="0"/>
              <a:t>The system empowers supermarket managers, store owners, and cashiers to manage every facet of retail operations from a centralized, web-responsive dashboard. Key operational capabilities include:</a:t>
            </a:r>
          </a:p>
          <a:p>
            <a:endParaRPr lang="en-IN" sz="2000" dirty="0"/>
          </a:p>
          <a:p>
            <a:pPr marL="0" indent="0">
              <a:buNone/>
            </a:pPr>
            <a:endParaRPr lang="en-IN" dirty="0"/>
          </a:p>
        </p:txBody>
      </p:sp>
    </p:spTree>
    <p:extLst>
      <p:ext uri="{BB962C8B-B14F-4D97-AF65-F5344CB8AC3E}">
        <p14:creationId xmlns:p14="http://schemas.microsoft.com/office/powerpoint/2010/main" val="140017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DE2515-5903-634F-F54F-9B5C827F6962}"/>
              </a:ext>
            </a:extLst>
          </p:cNvPr>
          <p:cNvSpPr>
            <a:spLocks noGrp="1"/>
          </p:cNvSpPr>
          <p:nvPr>
            <p:ph idx="1"/>
          </p:nvPr>
        </p:nvSpPr>
        <p:spPr>
          <a:xfrm>
            <a:off x="1218883" y="332656"/>
            <a:ext cx="10360501" cy="6336704"/>
          </a:xfrm>
        </p:spPr>
        <p:txBody>
          <a:bodyPr>
            <a:normAutofit/>
          </a:bodyPr>
          <a:lstStyle/>
          <a:p>
            <a:pPr marL="514350" lvl="0" indent="-514350">
              <a:buFont typeface="+mj-lt"/>
              <a:buAutoNum type="arabicPeriod"/>
            </a:pPr>
            <a:r>
              <a:rPr lang="en-IN" sz="2000" dirty="0" err="1"/>
              <a:t>Catalog</a:t>
            </a:r>
            <a:r>
              <a:rPr lang="en-IN" sz="2000" dirty="0"/>
              <a:t> &amp; Category Management: Hierarchical product organization with barcode mapping, unit classification, purchasing cost, and selling price configuration.</a:t>
            </a:r>
          </a:p>
          <a:p>
            <a:pPr marL="514350" lvl="0" indent="-514350">
              <a:buFont typeface="+mj-lt"/>
              <a:buAutoNum type="arabicPeriod"/>
            </a:pPr>
            <a:r>
              <a:rPr lang="en-IN" sz="2000" dirty="0"/>
              <a:t>Point of Sale (POS) &amp; Billing: High-speed cashier billing terminal supporting item scanning, custom discount calculation, tax processing, receipt printing, and real-time inventory deduction.</a:t>
            </a:r>
          </a:p>
          <a:p>
            <a:pPr marL="514350" lvl="0" indent="-514350">
              <a:buFont typeface="+mj-lt"/>
              <a:buAutoNum type="arabicPeriod"/>
            </a:pPr>
            <a:r>
              <a:rPr lang="en-IN" sz="2000" dirty="0"/>
              <a:t>Supplier &amp; Purchase Order Tracking: Complete procurement lifecycle tracking from supplier contact management to purchase invoice recording and stock intake auditing.</a:t>
            </a:r>
          </a:p>
          <a:p>
            <a:pPr marL="514350" lvl="0" indent="-514350">
              <a:buFont typeface="+mj-lt"/>
              <a:buAutoNum type="arabicPeriod"/>
            </a:pPr>
            <a:r>
              <a:rPr lang="en-IN" sz="2000" dirty="0"/>
              <a:t>Automated Stock Monitoring &amp; Alerts: Real-time stock level monitoring that calculates low-stock thresholds (</a:t>
            </a:r>
            <a:r>
              <a:rPr lang="en-IN" sz="2000" dirty="0" err="1"/>
              <a:t>isLowStock</a:t>
            </a:r>
            <a:r>
              <a:rPr lang="en-IN" sz="2000" dirty="0"/>
              <a:t>) and out-of-stock states (</a:t>
            </a:r>
            <a:r>
              <a:rPr lang="en-IN" sz="2000" dirty="0" err="1"/>
              <a:t>isOutOfStock</a:t>
            </a:r>
            <a:r>
              <a:rPr lang="en-IN" sz="2000" dirty="0"/>
              <a:t>), automatically triggering high-priority system alerts and notifications.</a:t>
            </a:r>
          </a:p>
          <a:p>
            <a:pPr marL="514350" lvl="0" indent="-514350">
              <a:buFont typeface="+mj-lt"/>
              <a:buAutoNum type="arabicPeriod"/>
            </a:pPr>
            <a:r>
              <a:rPr lang="en-IN" sz="2000" dirty="0"/>
              <a:t>Customer Profiling &amp; Debt Tracking: Storing customer purchase history, total expenditure, and contact records for personalized customer relationship management.</a:t>
            </a:r>
          </a:p>
          <a:p>
            <a:pPr marL="514350" lvl="0" indent="-514350">
              <a:buFont typeface="+mj-lt"/>
              <a:buAutoNum type="arabicPeriod"/>
            </a:pPr>
            <a:r>
              <a:rPr lang="en-IN" sz="2000" dirty="0"/>
              <a:t>Financial Reports &amp; Business Intelligence: Interactive graphical analytics powered by Recharts displaying sales trends, revenue performance, profit margins, and inventory asset valuation.</a:t>
            </a:r>
          </a:p>
          <a:p>
            <a:pPr marL="514350" lvl="0" indent="-514350">
              <a:buFont typeface="+mj-lt"/>
              <a:buAutoNum type="arabicPeriod"/>
            </a:pPr>
            <a:r>
              <a:rPr lang="en-IN" sz="2000" dirty="0"/>
              <a:t>Secure Multi-Role Access Control: Role-based security enforcing strict Admin and Manager permission boundaries, including an automated Admin approval gate for newly registered store managers.</a:t>
            </a:r>
          </a:p>
          <a:p>
            <a:pPr marL="514350" indent="-514350">
              <a:buFont typeface="+mj-lt"/>
              <a:buAutoNum type="arabicPeriod"/>
            </a:pPr>
            <a:endParaRPr lang="en-IN" sz="2000" dirty="0"/>
          </a:p>
        </p:txBody>
      </p:sp>
    </p:spTree>
    <p:extLst>
      <p:ext uri="{BB962C8B-B14F-4D97-AF65-F5344CB8AC3E}">
        <p14:creationId xmlns:p14="http://schemas.microsoft.com/office/powerpoint/2010/main" val="397037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173AAE-D8B5-96B8-B399-9D3474ED1E40}"/>
              </a:ext>
            </a:extLst>
          </p:cNvPr>
          <p:cNvSpPr>
            <a:spLocks noGrp="1"/>
          </p:cNvSpPr>
          <p:nvPr>
            <p:ph idx="1"/>
          </p:nvPr>
        </p:nvSpPr>
        <p:spPr>
          <a:xfrm>
            <a:off x="1218883" y="620688"/>
            <a:ext cx="10360501" cy="5760640"/>
          </a:xfrm>
        </p:spPr>
        <p:txBody>
          <a:bodyPr>
            <a:normAutofit/>
          </a:bodyPr>
          <a:lstStyle/>
          <a:p>
            <a:pPr>
              <a:buFont typeface="Wingdings" panose="05000000000000000000" pitchFamily="2" charset="2"/>
              <a:buChar char="v"/>
            </a:pPr>
            <a:r>
              <a:rPr lang="en-US" sz="2500" dirty="0"/>
              <a:t> 2.2 </a:t>
            </a:r>
            <a:r>
              <a:rPr lang="en-IN" sz="2500" b="1" dirty="0"/>
              <a:t> Problem Statement :</a:t>
            </a:r>
          </a:p>
          <a:p>
            <a:pPr marL="0" indent="0">
              <a:buNone/>
            </a:pPr>
            <a:endParaRPr lang="en-IN" sz="2500" b="1" dirty="0"/>
          </a:p>
          <a:p>
            <a:r>
              <a:rPr lang="en-IN" sz="2000" dirty="0"/>
              <a:t>Small to medium-sized supermarkets face severe operational vulnerabilities due to outdated management workflows. The primary problems addressed by MARKETA include:</a:t>
            </a:r>
          </a:p>
          <a:p>
            <a:pPr marL="514350" lvl="0" indent="-514350">
              <a:buFont typeface="+mj-lt"/>
              <a:buAutoNum type="arabicPeriod"/>
            </a:pPr>
            <a:r>
              <a:rPr lang="en-IN" sz="2000" dirty="0"/>
              <a:t>Inventory Discrepancy &amp; Stockouts: Lack of real-time stock tracking causes unexpected stockouts of high-demand items, resulting in lost revenue and customer dissatisfaction.</a:t>
            </a:r>
          </a:p>
          <a:p>
            <a:pPr marL="514350" lvl="0" indent="-514350">
              <a:buFont typeface="+mj-lt"/>
              <a:buAutoNum type="arabicPeriod"/>
            </a:pPr>
            <a:r>
              <a:rPr lang="en-IN" sz="2000" dirty="0"/>
              <a:t>Inaccurate Financial Accounting: Manual record-keeping leads to calculation errors when computing gross sales, supplier payables, net profit margins, and discounts.</a:t>
            </a:r>
          </a:p>
          <a:p>
            <a:pPr marL="514350" lvl="0" indent="-514350">
              <a:buFont typeface="+mj-lt"/>
              <a:buAutoNum type="arabicPeriod"/>
            </a:pPr>
            <a:r>
              <a:rPr lang="en-IN" sz="2000" dirty="0"/>
              <a:t>Security Risks &amp; Unauthorized Access: Traditional desktop systems lack granular audit trails and approval gates, exposing store data to unauthorized edits or unapproved staff actions.</a:t>
            </a:r>
          </a:p>
          <a:p>
            <a:pPr marL="514350" lvl="0" indent="-514350">
              <a:buFont typeface="+mj-lt"/>
              <a:buAutoNum type="arabicPeriod"/>
            </a:pPr>
            <a:r>
              <a:rPr lang="en-IN" sz="2000" dirty="0"/>
              <a:t>Slow Checkout Processing: Manual product searching during billing increases customer wait times and checkout counter congestion.</a:t>
            </a:r>
          </a:p>
          <a:p>
            <a:pPr marL="514350" lvl="0" indent="-514350">
              <a:buFont typeface="+mj-lt"/>
              <a:buAutoNum type="arabicPeriod"/>
            </a:pPr>
            <a:r>
              <a:rPr lang="en-IN" sz="2000" dirty="0"/>
              <a:t>Lack of Decision-Making Analytics: Store owners lack visual data insights regarding top-selling products, slow-moving items, and monthly sales trends.</a:t>
            </a:r>
          </a:p>
          <a:p>
            <a:pPr marL="0" indent="0">
              <a:buNone/>
            </a:pPr>
            <a:endParaRPr lang="en-IN" sz="2500" dirty="0"/>
          </a:p>
          <a:p>
            <a:endParaRPr lang="en-IN" dirty="0"/>
          </a:p>
        </p:txBody>
      </p:sp>
    </p:spTree>
    <p:extLst>
      <p:ext uri="{BB962C8B-B14F-4D97-AF65-F5344CB8AC3E}">
        <p14:creationId xmlns:p14="http://schemas.microsoft.com/office/powerpoint/2010/main" val="154363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7E30D4-3B67-FC3B-66AC-25AA17C7FDB9}"/>
              </a:ext>
            </a:extLst>
          </p:cNvPr>
          <p:cNvSpPr>
            <a:spLocks noGrp="1"/>
          </p:cNvSpPr>
          <p:nvPr>
            <p:ph idx="1"/>
          </p:nvPr>
        </p:nvSpPr>
        <p:spPr>
          <a:xfrm>
            <a:off x="1218883" y="404664"/>
            <a:ext cx="10360501" cy="6120680"/>
          </a:xfrm>
        </p:spPr>
        <p:txBody>
          <a:bodyPr>
            <a:normAutofit fontScale="85000" lnSpcReduction="10000"/>
          </a:bodyPr>
          <a:lstStyle/>
          <a:p>
            <a:pPr>
              <a:buFont typeface="Wingdings" panose="05000000000000000000" pitchFamily="2" charset="2"/>
              <a:buChar char="v"/>
            </a:pPr>
            <a:r>
              <a:rPr lang="en-US" sz="2900" dirty="0"/>
              <a:t> 2.3 </a:t>
            </a:r>
            <a:r>
              <a:rPr lang="en-IN" sz="2900" b="1" dirty="0"/>
              <a:t>Objectives of the System : </a:t>
            </a:r>
          </a:p>
          <a:p>
            <a:r>
              <a:rPr lang="en-IN" sz="2400" dirty="0"/>
              <a:t>The overarching objective of the MARKETA Supermarket Management System is to deliver a secure, scalable, and cost-effective digital web platform that automates retail management. Specific technical and business objectives include: </a:t>
            </a:r>
          </a:p>
          <a:p>
            <a:pPr marL="457200" lvl="0" indent="-457200">
              <a:buFont typeface="+mj-lt"/>
              <a:buAutoNum type="arabicPeriod"/>
            </a:pPr>
            <a:r>
              <a:rPr lang="en-IN" sz="2400" dirty="0"/>
              <a:t>Automate Inventory Lifecycle: Automatically deduct product stock levels immediately upon POS sale completion and update stock levels when new supplier purchases are recorded. </a:t>
            </a:r>
          </a:p>
          <a:p>
            <a:pPr marL="457200" lvl="0" indent="-457200">
              <a:buFont typeface="+mj-lt"/>
              <a:buAutoNum type="arabicPeriod"/>
            </a:pPr>
            <a:r>
              <a:rPr lang="en-IN" sz="2400" dirty="0"/>
              <a:t>Implement Real-Time Alerting: Trigger automated notifications whenever an item's stock drops below its predefined minimum threshold (</a:t>
            </a:r>
            <a:r>
              <a:rPr lang="en-IN" sz="2400" dirty="0" err="1"/>
              <a:t>minStock</a:t>
            </a:r>
            <a:r>
              <a:rPr lang="en-IN" sz="2400" dirty="0"/>
              <a:t>), enabling timely replenishment. </a:t>
            </a:r>
          </a:p>
          <a:p>
            <a:pPr marL="457200" lvl="0" indent="-457200">
              <a:buFont typeface="+mj-lt"/>
              <a:buAutoNum type="arabicPeriod"/>
            </a:pPr>
            <a:r>
              <a:rPr lang="en-IN" sz="2400" dirty="0"/>
              <a:t>Accelerate POS Billing &amp; Invoicing: Provide cashiers with a rapid, intuitive billing interface with discount calculation, tax handling, and instant thermal receipt printing (react-to-print).</a:t>
            </a:r>
          </a:p>
          <a:p>
            <a:pPr marL="457200" lvl="0" indent="-457200">
              <a:buFont typeface="+mj-lt"/>
              <a:buAutoNum type="arabicPeriod"/>
            </a:pPr>
            <a:r>
              <a:rPr lang="en-IN" sz="2400" dirty="0"/>
              <a:t>Ensure High Security &amp; Access Control: Enforce JWT-based stateless authentication, password encryption (bcrypt.js), role segregation (Admin vs. Manager), and an Admin approval workflow for new registrations.  </a:t>
            </a:r>
          </a:p>
          <a:p>
            <a:pPr marL="457200" lvl="0" indent="-457200">
              <a:buFont typeface="+mj-lt"/>
              <a:buAutoNum type="arabicPeriod"/>
            </a:pPr>
            <a:r>
              <a:rPr lang="en-IN" sz="2400" dirty="0"/>
              <a:t>Deliver Business Intelligence Analytics: Present store owners with interactive charts and reports detailing daily sales, top products, customer expenditure, and category revenue distribution.</a:t>
            </a:r>
          </a:p>
          <a:p>
            <a:pPr marL="457200" lvl="0" indent="-457200">
              <a:buFont typeface="+mj-lt"/>
              <a:buAutoNum type="arabicPeriod"/>
            </a:pPr>
            <a:r>
              <a:rPr lang="en-IN" sz="2400" dirty="0"/>
              <a:t>Eliminate Software Licensing Costs: Provide an open, self-hostable web architecture that frees small business owners from high recurring SaaS software subscriptions.</a:t>
            </a:r>
          </a:p>
          <a:p>
            <a:pPr marL="0" indent="0">
              <a:buNone/>
            </a:pPr>
            <a:endParaRPr lang="en-IN" sz="2500" dirty="0"/>
          </a:p>
        </p:txBody>
      </p:sp>
    </p:spTree>
    <p:extLst>
      <p:ext uri="{BB962C8B-B14F-4D97-AF65-F5344CB8AC3E}">
        <p14:creationId xmlns:p14="http://schemas.microsoft.com/office/powerpoint/2010/main" val="2483080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449A60-DA1E-8F71-3181-EB6D82946A59}"/>
              </a:ext>
            </a:extLst>
          </p:cNvPr>
          <p:cNvSpPr>
            <a:spLocks noGrp="1"/>
          </p:cNvSpPr>
          <p:nvPr>
            <p:ph idx="1"/>
          </p:nvPr>
        </p:nvSpPr>
        <p:spPr>
          <a:xfrm>
            <a:off x="1218883" y="188640"/>
            <a:ext cx="10360501" cy="6336704"/>
          </a:xfrm>
        </p:spPr>
        <p:txBody>
          <a:bodyPr>
            <a:normAutofit/>
          </a:bodyPr>
          <a:lstStyle/>
          <a:p>
            <a:pPr>
              <a:buFont typeface="Wingdings" panose="05000000000000000000" pitchFamily="2" charset="2"/>
              <a:buChar char="v"/>
            </a:pPr>
            <a:r>
              <a:rPr lang="en-IN" sz="2500" b="1" dirty="0"/>
              <a:t> 2.4 Scope of the System :</a:t>
            </a:r>
            <a:endParaRPr lang="en-IN" sz="2500" dirty="0"/>
          </a:p>
          <a:p>
            <a:pPr marL="0" indent="0">
              <a:buNone/>
            </a:pPr>
            <a:r>
              <a:rPr lang="en-IN" sz="2400" dirty="0"/>
              <a:t>A. In-Scope Modules &amp; Features</a:t>
            </a:r>
          </a:p>
          <a:p>
            <a:pPr marL="457200" lvl="0" indent="-457200">
              <a:buFont typeface="+mj-lt"/>
              <a:buAutoNum type="arabicPeriod"/>
            </a:pPr>
            <a:r>
              <a:rPr lang="en-IN" sz="2000" dirty="0"/>
              <a:t>User Authentication &amp; Admin Approval Gate: Registration, login, profile fetch, JWT token management, and Admin approval panel for pending managers. </a:t>
            </a:r>
          </a:p>
          <a:p>
            <a:pPr marL="457200" lvl="0" indent="-457200">
              <a:buFont typeface="+mj-lt"/>
              <a:buAutoNum type="arabicPeriod"/>
            </a:pPr>
            <a:r>
              <a:rPr lang="en-IN" sz="2000" dirty="0"/>
              <a:t>Product </a:t>
            </a:r>
            <a:r>
              <a:rPr lang="en-IN" sz="2000" dirty="0" err="1"/>
              <a:t>Catalog</a:t>
            </a:r>
            <a:r>
              <a:rPr lang="en-IN" sz="2000" dirty="0"/>
              <a:t> &amp; Stock Management: Product creation, image upload via Multer, price setup, barcode assignment, category linking, and stock history tracking.</a:t>
            </a:r>
          </a:p>
          <a:p>
            <a:pPr marL="457200" lvl="0" indent="-457200">
              <a:buFont typeface="+mj-lt"/>
              <a:buAutoNum type="arabicPeriod"/>
            </a:pPr>
            <a:r>
              <a:rPr lang="en-IN" sz="2000" dirty="0"/>
              <a:t>Category &amp; Supplier Management: Full CRUD operations for product categories and vendor supplier records.</a:t>
            </a:r>
          </a:p>
          <a:p>
            <a:pPr marL="457200" lvl="0" indent="-457200">
              <a:buFont typeface="+mj-lt"/>
              <a:buAutoNum type="arabicPeriod"/>
            </a:pPr>
            <a:r>
              <a:rPr lang="en-IN" sz="2000" dirty="0"/>
              <a:t>Point of Sale (POS) &amp; Invoice Generation: Cart management, price auto-calculation, custom discounts, invoice auto-numbering (INV-YYYYMMDD-XXXX), and printing. </a:t>
            </a:r>
          </a:p>
          <a:p>
            <a:pPr marL="457200" lvl="0" indent="-457200">
              <a:buFont typeface="+mj-lt"/>
              <a:buAutoNum type="arabicPeriod"/>
            </a:pPr>
            <a:r>
              <a:rPr lang="en-IN" sz="2000" dirty="0"/>
              <a:t>Customer Management: Recording customer contact info, tracking total visits, and calculating total lifetime spending.</a:t>
            </a:r>
          </a:p>
          <a:p>
            <a:pPr marL="457200" lvl="0" indent="-457200">
              <a:buFont typeface="+mj-lt"/>
              <a:buAutoNum type="arabicPeriod"/>
            </a:pPr>
            <a:r>
              <a:rPr lang="en-IN" sz="2000" dirty="0"/>
              <a:t>Automated System Notifications: Real-time generation of </a:t>
            </a:r>
            <a:r>
              <a:rPr lang="en-IN" sz="2000" dirty="0" err="1"/>
              <a:t>low_stock</a:t>
            </a:r>
            <a:r>
              <a:rPr lang="en-IN" sz="2000" dirty="0"/>
              <a:t> and </a:t>
            </a:r>
            <a:r>
              <a:rPr lang="en-IN" sz="2000" dirty="0" err="1"/>
              <a:t>out_of_stock</a:t>
            </a:r>
            <a:r>
              <a:rPr lang="en-IN" sz="2000" dirty="0"/>
              <a:t> notification logs.</a:t>
            </a:r>
          </a:p>
          <a:p>
            <a:pPr marL="457200" lvl="0" indent="-457200">
              <a:buFont typeface="+mj-lt"/>
              <a:buAutoNum type="arabicPeriod"/>
            </a:pPr>
            <a:r>
              <a:rPr lang="en-IN" sz="2000" dirty="0"/>
              <a:t>Financial Reports &amp; Dashboard Analytics: Aggregate revenue calculation, profit metrics, and visual Recharts line/bar graphs.</a:t>
            </a:r>
          </a:p>
          <a:p>
            <a:endParaRPr lang="en-IN" dirty="0"/>
          </a:p>
        </p:txBody>
      </p:sp>
    </p:spTree>
    <p:extLst>
      <p:ext uri="{BB962C8B-B14F-4D97-AF65-F5344CB8AC3E}">
        <p14:creationId xmlns:p14="http://schemas.microsoft.com/office/powerpoint/2010/main" val="232772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1322D4-3E82-5121-CB65-39282AE45F0E}"/>
              </a:ext>
            </a:extLst>
          </p:cNvPr>
          <p:cNvSpPr>
            <a:spLocks noGrp="1"/>
          </p:cNvSpPr>
          <p:nvPr>
            <p:ph idx="1"/>
          </p:nvPr>
        </p:nvSpPr>
        <p:spPr>
          <a:xfrm>
            <a:off x="1197868" y="945341"/>
            <a:ext cx="10360501" cy="4967317"/>
          </a:xfrm>
        </p:spPr>
        <p:txBody>
          <a:bodyPr>
            <a:normAutofit/>
          </a:bodyPr>
          <a:lstStyle/>
          <a:p>
            <a:pPr marL="0" indent="0">
              <a:buNone/>
            </a:pPr>
            <a:r>
              <a:rPr lang="en-IN" sz="2400" b="1" dirty="0"/>
              <a:t>B. Out-of-Scope (Future Boundaries)</a:t>
            </a:r>
            <a:endParaRPr lang="en-IN" sz="2400" dirty="0"/>
          </a:p>
          <a:p>
            <a:pPr marL="0" indent="0">
              <a:buNone/>
            </a:pPr>
            <a:endParaRPr lang="en-IN" dirty="0"/>
          </a:p>
          <a:p>
            <a:pPr lvl="0"/>
            <a:r>
              <a:rPr lang="en-IN" sz="2000" dirty="0"/>
              <a:t>Direct hardware-level </a:t>
            </a:r>
            <a:r>
              <a:rPr lang="en-IN" sz="2000" dirty="0" err="1"/>
              <a:t>WebUSB</a:t>
            </a:r>
            <a:r>
              <a:rPr lang="en-IN" sz="2000" dirty="0"/>
              <a:t> barcode scanner driver compilation (currently uses plug-and-play keyboard emulation).</a:t>
            </a:r>
          </a:p>
          <a:p>
            <a:pPr lvl="0"/>
            <a:endParaRPr lang="en-IN" sz="2000" dirty="0"/>
          </a:p>
          <a:p>
            <a:pPr lvl="0"/>
            <a:r>
              <a:rPr lang="en-IN" sz="2000" dirty="0"/>
              <a:t>Multi-store chain inter-branch inventory transfers (currently scoped to single supermarket enterprise).</a:t>
            </a:r>
          </a:p>
          <a:p>
            <a:pPr lvl="0"/>
            <a:endParaRPr lang="en-IN" sz="2000" dirty="0"/>
          </a:p>
          <a:p>
            <a:pPr lvl="0"/>
            <a:r>
              <a:rPr lang="en-IN" sz="2000" dirty="0"/>
              <a:t>Direct integrated online payment gateway webhooks (currently supports cash/card POS billing modes).</a:t>
            </a:r>
          </a:p>
          <a:p>
            <a:endParaRPr lang="en-IN" dirty="0"/>
          </a:p>
        </p:txBody>
      </p:sp>
    </p:spTree>
    <p:extLst>
      <p:ext uri="{BB962C8B-B14F-4D97-AF65-F5344CB8AC3E}">
        <p14:creationId xmlns:p14="http://schemas.microsoft.com/office/powerpoint/2010/main" val="211746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D54B0B-F18D-6324-3B17-1440AD73AEC2}"/>
              </a:ext>
            </a:extLst>
          </p:cNvPr>
          <p:cNvSpPr>
            <a:spLocks noGrp="1"/>
          </p:cNvSpPr>
          <p:nvPr>
            <p:ph idx="1"/>
          </p:nvPr>
        </p:nvSpPr>
        <p:spPr>
          <a:xfrm>
            <a:off x="1218883" y="116632"/>
            <a:ext cx="10360501" cy="6552728"/>
          </a:xfrm>
        </p:spPr>
        <p:txBody>
          <a:bodyPr>
            <a:noAutofit/>
          </a:bodyPr>
          <a:lstStyle/>
          <a:p>
            <a:pPr>
              <a:buFont typeface="Wingdings" panose="05000000000000000000" pitchFamily="2" charset="2"/>
              <a:buChar char="v"/>
            </a:pPr>
            <a:r>
              <a:rPr lang="en-US" sz="2500" dirty="0"/>
              <a:t> 2.5 </a:t>
            </a:r>
            <a:r>
              <a:rPr lang="en-US" sz="2500" b="1" dirty="0"/>
              <a:t>Module description :</a:t>
            </a:r>
          </a:p>
          <a:p>
            <a:pPr>
              <a:buFont typeface="Wingdings" panose="05000000000000000000" pitchFamily="2" charset="2"/>
              <a:buChar char="v"/>
            </a:pPr>
            <a:endParaRPr lang="en-US" sz="2500" b="1" dirty="0"/>
          </a:p>
          <a:p>
            <a:pPr marL="0" indent="0">
              <a:buNone/>
            </a:pPr>
            <a:r>
              <a:rPr lang="en-IN" sz="2000" b="1" dirty="0"/>
              <a:t>1. Authentication Module:</a:t>
            </a:r>
            <a:endParaRPr lang="en-IN" sz="2000" dirty="0"/>
          </a:p>
          <a:p>
            <a:r>
              <a:rPr lang="en-IN" sz="2000" dirty="0"/>
              <a:t>Provides secure login and registration for users. It verifies user credentials and ensures that only authorized managers and administrators can access the system. </a:t>
            </a:r>
          </a:p>
          <a:p>
            <a:pPr marL="0" indent="0">
              <a:buNone/>
            </a:pPr>
            <a:r>
              <a:rPr lang="en-IN" sz="2000" dirty="0"/>
              <a:t>2. Dashboard Module:</a:t>
            </a:r>
          </a:p>
          <a:p>
            <a:r>
              <a:rPr lang="en-IN" sz="2000" dirty="0"/>
              <a:t>Displays a real-time overview of the supermarket's operations. It summarizes sales, purchases, inventory, profit, and stock alerts for quick decision-making.</a:t>
            </a:r>
          </a:p>
          <a:p>
            <a:pPr marL="0" indent="0">
              <a:buNone/>
            </a:pPr>
            <a:r>
              <a:rPr lang="en-IN" sz="2000" dirty="0"/>
              <a:t>3. Product Management Module:</a:t>
            </a:r>
          </a:p>
          <a:p>
            <a:r>
              <a:rPr lang="en-IN" sz="2000" dirty="0"/>
              <a:t>Manages all product-related information, including adding, updating, deleting, and searching products. It helps maintain accurate product records and stock details. </a:t>
            </a:r>
          </a:p>
          <a:p>
            <a:pPr marL="0" indent="0">
              <a:buNone/>
            </a:pPr>
            <a:r>
              <a:rPr lang="en-IN" sz="2000" dirty="0"/>
              <a:t>4. Category Management Module:</a:t>
            </a:r>
          </a:p>
          <a:p>
            <a:r>
              <a:rPr lang="en-IN" sz="2000" dirty="0"/>
              <a:t>Organizes products into different categories for better management. It simplifies product classification and improves product searching. </a:t>
            </a:r>
          </a:p>
        </p:txBody>
      </p:sp>
    </p:spTree>
    <p:extLst>
      <p:ext uri="{BB962C8B-B14F-4D97-AF65-F5344CB8AC3E}">
        <p14:creationId xmlns:p14="http://schemas.microsoft.com/office/powerpoint/2010/main" val="248242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B70F93-6626-4D8A-2F1C-D4E6C4607221}"/>
              </a:ext>
            </a:extLst>
          </p:cNvPr>
          <p:cNvSpPr>
            <a:spLocks noGrp="1"/>
          </p:cNvSpPr>
          <p:nvPr>
            <p:ph idx="1"/>
          </p:nvPr>
        </p:nvSpPr>
        <p:spPr>
          <a:xfrm>
            <a:off x="1218883" y="188640"/>
            <a:ext cx="10360501" cy="6336704"/>
          </a:xfrm>
        </p:spPr>
        <p:txBody>
          <a:bodyPr>
            <a:normAutofit/>
          </a:bodyPr>
          <a:lstStyle/>
          <a:p>
            <a:pPr marL="0" indent="0">
              <a:buNone/>
            </a:pPr>
            <a:r>
              <a:rPr lang="en-IN" sz="2000" b="1" dirty="0"/>
              <a:t>5. Supplier Management Module:</a:t>
            </a:r>
          </a:p>
          <a:p>
            <a:r>
              <a:rPr lang="en-IN" sz="2000" dirty="0"/>
              <a:t>Stores and manages supplier information used for purchasing products. It helps maintain supplier records and simplifies purchase transactions. </a:t>
            </a:r>
            <a:endParaRPr lang="en-IN" sz="2000" b="1" dirty="0"/>
          </a:p>
          <a:p>
            <a:pPr marL="0" indent="0">
              <a:buNone/>
            </a:pPr>
            <a:r>
              <a:rPr lang="en-IN" sz="2000" b="1" dirty="0"/>
              <a:t>6. Customer Management Module:</a:t>
            </a:r>
          </a:p>
          <a:p>
            <a:r>
              <a:rPr lang="en-IN" sz="2000" dirty="0"/>
              <a:t>Maintains customer details and purchase history. It helps the supermarket provide better customer service and track buying patterns.</a:t>
            </a:r>
            <a:endParaRPr lang="en-IN" sz="2000" b="1" dirty="0"/>
          </a:p>
          <a:p>
            <a:pPr marL="0" indent="0">
              <a:buNone/>
            </a:pPr>
            <a:r>
              <a:rPr lang="en-IN" sz="2000" b="1" dirty="0"/>
              <a:t>7. Inventory Management Module:</a:t>
            </a:r>
            <a:endParaRPr lang="en-IN" sz="2000" dirty="0"/>
          </a:p>
          <a:p>
            <a:r>
              <a:rPr lang="en-IN" sz="2000" dirty="0"/>
              <a:t>Monitors and controls product stock levels. It records stock movements and ensures inventory remains accurate through stock adjustments.</a:t>
            </a:r>
          </a:p>
          <a:p>
            <a:pPr marL="0" indent="0">
              <a:buNone/>
            </a:pPr>
            <a:r>
              <a:rPr lang="en-IN" sz="2000" b="1" dirty="0"/>
              <a:t>8. Purchase Management Module:</a:t>
            </a:r>
            <a:endParaRPr lang="en-IN" sz="2000" dirty="0"/>
          </a:p>
          <a:p>
            <a:r>
              <a:rPr lang="en-IN" sz="2000" dirty="0"/>
              <a:t>Records all purchases made from suppliers and automatically updates inventory. It maintains purchase invoices and purchase history for future reference. </a:t>
            </a:r>
          </a:p>
          <a:p>
            <a:pPr marL="0" indent="0">
              <a:buNone/>
            </a:pPr>
            <a:r>
              <a:rPr lang="en-IN" sz="2000" b="1" dirty="0"/>
              <a:t>9. Sales Management Module:</a:t>
            </a:r>
            <a:endParaRPr lang="en-IN" sz="2000" dirty="0"/>
          </a:p>
          <a:p>
            <a:r>
              <a:rPr lang="en-IN" sz="2000" dirty="0"/>
              <a:t>Handles customer sales transactions by generating invoices and reducing stock automatically. It ensures accurate billing and maintains complete sales records.</a:t>
            </a:r>
          </a:p>
        </p:txBody>
      </p:sp>
    </p:spTree>
    <p:extLst>
      <p:ext uri="{BB962C8B-B14F-4D97-AF65-F5344CB8AC3E}">
        <p14:creationId xmlns:p14="http://schemas.microsoft.com/office/powerpoint/2010/main" val="4019501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CFFBF-A382-2511-D635-1BD1A2D660CA}"/>
              </a:ext>
            </a:extLst>
          </p:cNvPr>
          <p:cNvSpPr>
            <a:spLocks noGrp="1"/>
          </p:cNvSpPr>
          <p:nvPr>
            <p:ph idx="1"/>
          </p:nvPr>
        </p:nvSpPr>
        <p:spPr>
          <a:xfrm>
            <a:off x="1218883" y="188640"/>
            <a:ext cx="10360501" cy="6264696"/>
          </a:xfrm>
        </p:spPr>
        <p:txBody>
          <a:bodyPr>
            <a:normAutofit/>
          </a:bodyPr>
          <a:lstStyle/>
          <a:p>
            <a:pPr marL="0" indent="0">
              <a:buNone/>
            </a:pPr>
            <a:r>
              <a:rPr lang="en-IN" sz="2000" b="1" dirty="0"/>
              <a:t>10. Invoice Management Module</a:t>
            </a:r>
            <a:endParaRPr lang="en-IN" sz="2000" dirty="0"/>
          </a:p>
          <a:p>
            <a:r>
              <a:rPr lang="en-IN" sz="2000" dirty="0"/>
              <a:t>Generates and manages purchase and sales invoices with unique invoice numbers. It provides printable invoices and stores invoice history. </a:t>
            </a:r>
            <a:endParaRPr lang="en-IN" sz="2000" b="1" dirty="0"/>
          </a:p>
          <a:p>
            <a:pPr marL="0" indent="0">
              <a:buNone/>
            </a:pPr>
            <a:r>
              <a:rPr lang="en-IN" sz="2000" b="1" dirty="0"/>
              <a:t>11. Stock Alert Module</a:t>
            </a:r>
            <a:endParaRPr lang="en-IN" sz="2000" dirty="0"/>
          </a:p>
          <a:p>
            <a:r>
              <a:rPr lang="en-IN" sz="2000" dirty="0"/>
              <a:t>Continuously monitors inventory levels and identifies products that are low or out of stock. It notifies the manager to reorder products on time.</a:t>
            </a:r>
            <a:endParaRPr lang="en-IN" sz="2000" b="1" dirty="0"/>
          </a:p>
          <a:p>
            <a:pPr marL="0" indent="0">
              <a:buNone/>
            </a:pPr>
            <a:r>
              <a:rPr lang="en-IN" sz="2000" b="1" dirty="0"/>
              <a:t>12. Financial Management Module</a:t>
            </a:r>
            <a:endParaRPr lang="en-IN" sz="2000" dirty="0"/>
          </a:p>
          <a:p>
            <a:r>
              <a:rPr lang="en-IN" sz="2000" dirty="0"/>
              <a:t>Tracks the supermarket's income, expenses, and overall profit. It provides financial summaries that help managers monitor business performance.</a:t>
            </a:r>
            <a:endParaRPr lang="en-IN" sz="2000" b="1" dirty="0"/>
          </a:p>
          <a:p>
            <a:pPr marL="0" indent="0">
              <a:buNone/>
            </a:pPr>
            <a:r>
              <a:rPr lang="en-IN" sz="2000" b="1" dirty="0"/>
              <a:t>13. Reports Module</a:t>
            </a:r>
            <a:endParaRPr lang="en-IN" sz="2000" dirty="0"/>
          </a:p>
          <a:p>
            <a:r>
              <a:rPr lang="en-IN" sz="2000" dirty="0"/>
              <a:t>Generates detailed reports for sales, purchases, inventory, and customers. These reports help </a:t>
            </a:r>
            <a:r>
              <a:rPr lang="en-IN" sz="2000" dirty="0" err="1"/>
              <a:t>analyze</a:t>
            </a:r>
            <a:r>
              <a:rPr lang="en-IN" sz="2000" dirty="0"/>
              <a:t> business performance and support decision-making.</a:t>
            </a:r>
          </a:p>
          <a:p>
            <a:pPr marL="0" indent="0">
              <a:buNone/>
            </a:pPr>
            <a:r>
              <a:rPr lang="en-IN" sz="2000" b="1" dirty="0"/>
              <a:t>14. Shop Settings Module</a:t>
            </a:r>
            <a:endParaRPr lang="en-IN" sz="2000" dirty="0"/>
          </a:p>
          <a:p>
            <a:r>
              <a:rPr lang="en-IN" sz="2000" dirty="0"/>
              <a:t>Allows the manager to configure supermarket information such as shop name, GST number, logo, address, and invoice settings. It personalizes the application for the business.</a:t>
            </a:r>
          </a:p>
          <a:p>
            <a:endParaRPr lang="en-IN" sz="2000" dirty="0"/>
          </a:p>
        </p:txBody>
      </p:sp>
    </p:spTree>
    <p:extLst>
      <p:ext uri="{BB962C8B-B14F-4D97-AF65-F5344CB8AC3E}">
        <p14:creationId xmlns:p14="http://schemas.microsoft.com/office/powerpoint/2010/main" val="225209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8CC3-03D9-DFF2-F587-CDF54232EC85}"/>
              </a:ext>
            </a:extLst>
          </p:cNvPr>
          <p:cNvSpPr>
            <a:spLocks noGrp="1"/>
          </p:cNvSpPr>
          <p:nvPr>
            <p:ph type="title"/>
          </p:nvPr>
        </p:nvSpPr>
        <p:spPr>
          <a:xfrm>
            <a:off x="1218883" y="274637"/>
            <a:ext cx="10360501" cy="706091"/>
          </a:xfrm>
        </p:spPr>
        <p:txBody>
          <a:bodyPr/>
          <a:lstStyle/>
          <a:p>
            <a:pPr algn="ctr"/>
            <a:r>
              <a:rPr lang="en-US" b="1" dirty="0"/>
              <a:t>3. REVIEW OF LITERATURE</a:t>
            </a:r>
            <a:endParaRPr lang="en-IN" dirty="0"/>
          </a:p>
        </p:txBody>
      </p:sp>
      <p:sp>
        <p:nvSpPr>
          <p:cNvPr id="6" name="Content Placeholder 5">
            <a:extLst>
              <a:ext uri="{FF2B5EF4-FFF2-40B4-BE49-F238E27FC236}">
                <a16:creationId xmlns:a16="http://schemas.microsoft.com/office/drawing/2014/main" id="{6FD0467C-D2EA-4477-47D7-BE1FB83F4FC4}"/>
              </a:ext>
            </a:extLst>
          </p:cNvPr>
          <p:cNvSpPr>
            <a:spLocks noGrp="1"/>
          </p:cNvSpPr>
          <p:nvPr>
            <p:ph idx="1"/>
          </p:nvPr>
        </p:nvSpPr>
        <p:spPr>
          <a:xfrm>
            <a:off x="1218883" y="1268761"/>
            <a:ext cx="10360501" cy="4536504"/>
          </a:xfrm>
        </p:spPr>
        <p:txBody>
          <a:bodyPr>
            <a:normAutofit/>
          </a:bodyPr>
          <a:lstStyle/>
          <a:p>
            <a:pPr>
              <a:buFont typeface="Wingdings" panose="05000000000000000000" pitchFamily="2" charset="2"/>
              <a:buChar char="v"/>
            </a:pPr>
            <a:r>
              <a:rPr lang="en-IN" sz="2400" b="1" dirty="0"/>
              <a:t> Study &amp; Analysis of Existing Systems :</a:t>
            </a:r>
            <a:endParaRPr lang="en-IN" dirty="0"/>
          </a:p>
          <a:p>
            <a:r>
              <a:rPr lang="en-IN" sz="2000" dirty="0"/>
              <a:t>A comparative study of current supermarket inventory and POS management solutions was conducted:</a:t>
            </a:r>
          </a:p>
          <a:p>
            <a:pPr marL="0" indent="0">
              <a:buNone/>
            </a:pPr>
            <a:endParaRPr lang="en-IN" sz="2000" dirty="0"/>
          </a:p>
          <a:p>
            <a:pPr marL="514350" lvl="0" indent="-514350">
              <a:buFont typeface="+mj-lt"/>
              <a:buAutoNum type="arabicPeriod"/>
            </a:pPr>
            <a:r>
              <a:rPr lang="en-IN" sz="2000" dirty="0"/>
              <a:t>Legacy Desktop ERP Systems (e.g., Marg ERP): Standalone desktop software. High license cost, single-terminal restriction, complex UI.</a:t>
            </a:r>
          </a:p>
          <a:p>
            <a:pPr marL="514350" lvl="0" indent="-514350">
              <a:buFont typeface="+mj-lt"/>
              <a:buAutoNum type="arabicPeriod"/>
            </a:pPr>
            <a:r>
              <a:rPr lang="en-IN" sz="2000" dirty="0"/>
              <a:t>Cloud SaaS Solutions (e.g., Square POS / Odoo): Proprietary SaaS platforms. High recurring monthly fee per terminal, closed architecture.</a:t>
            </a:r>
          </a:p>
          <a:p>
            <a:pPr marL="514350" lvl="0" indent="-514350">
              <a:buFont typeface="+mj-lt"/>
              <a:buAutoNum type="arabicPeriod"/>
            </a:pPr>
            <a:r>
              <a:rPr lang="en-IN" sz="2000" dirty="0"/>
              <a:t>MARKETA System (Proposed MERN Stack): Open, web-responsive, self-hostable, zero licensing cost, role-gated with real-time stock sync.</a:t>
            </a:r>
          </a:p>
          <a:p>
            <a:endParaRPr lang="en-IN" dirty="0"/>
          </a:p>
        </p:txBody>
      </p:sp>
    </p:spTree>
    <p:extLst>
      <p:ext uri="{BB962C8B-B14F-4D97-AF65-F5344CB8AC3E}">
        <p14:creationId xmlns:p14="http://schemas.microsoft.com/office/powerpoint/2010/main" val="33230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3942A-2AF6-31E5-F7E2-A5A1F361BFC6}"/>
              </a:ext>
            </a:extLst>
          </p:cNvPr>
          <p:cNvSpPr>
            <a:spLocks noGrp="1"/>
          </p:cNvSpPr>
          <p:nvPr>
            <p:ph idx="1"/>
          </p:nvPr>
        </p:nvSpPr>
        <p:spPr>
          <a:xfrm>
            <a:off x="1197868" y="908720"/>
            <a:ext cx="10360501" cy="5255349"/>
          </a:xfrm>
        </p:spPr>
        <p:txBody>
          <a:bodyPr/>
          <a:lstStyle/>
          <a:p>
            <a:pPr>
              <a:buFont typeface="Wingdings" panose="05000000000000000000" pitchFamily="2" charset="2"/>
              <a:buChar char="v"/>
            </a:pPr>
            <a:r>
              <a:rPr lang="en-IN" sz="2200" b="1" dirty="0"/>
              <a:t> Comparative Analysis Matrix :</a:t>
            </a:r>
          </a:p>
          <a:p>
            <a:pPr>
              <a:buFont typeface="Wingdings" panose="05000000000000000000" pitchFamily="2" charset="2"/>
              <a:buChar char="v"/>
            </a:pPr>
            <a:endParaRPr lang="en-IN" sz="2200" b="1" dirty="0"/>
          </a:p>
          <a:p>
            <a:pPr>
              <a:buFont typeface="Wingdings" panose="05000000000000000000" pitchFamily="2" charset="2"/>
              <a:buChar char="v"/>
            </a:pPr>
            <a:endParaRPr lang="en-IN" sz="2200" dirty="0"/>
          </a:p>
          <a:p>
            <a:pPr marL="0" indent="0">
              <a:buNone/>
            </a:pPr>
            <a:endParaRPr lang="en-IN" dirty="0"/>
          </a:p>
        </p:txBody>
      </p:sp>
      <p:graphicFrame>
        <p:nvGraphicFramePr>
          <p:cNvPr id="4" name="Table 3">
            <a:extLst>
              <a:ext uri="{FF2B5EF4-FFF2-40B4-BE49-F238E27FC236}">
                <a16:creationId xmlns:a16="http://schemas.microsoft.com/office/drawing/2014/main" id="{0EAB72F8-02A3-D533-2DF0-B84F464271B4}"/>
              </a:ext>
            </a:extLst>
          </p:cNvPr>
          <p:cNvGraphicFramePr>
            <a:graphicFrameLocks noGrp="1"/>
          </p:cNvGraphicFramePr>
          <p:nvPr>
            <p:extLst>
              <p:ext uri="{D42A27DB-BD31-4B8C-83A1-F6EECF244321}">
                <p14:modId xmlns:p14="http://schemas.microsoft.com/office/powerpoint/2010/main" val="389408529"/>
              </p:ext>
            </p:extLst>
          </p:nvPr>
        </p:nvGraphicFramePr>
        <p:xfrm>
          <a:off x="1194395" y="2132856"/>
          <a:ext cx="10360024" cy="3139440"/>
        </p:xfrm>
        <a:graphic>
          <a:graphicData uri="http://schemas.openxmlformats.org/drawingml/2006/table">
            <a:tbl>
              <a:tblPr firstRow="1" firstCol="1" bandRow="1">
                <a:tableStyleId>{5C22544A-7EE6-4342-B048-85BDC9FD1C3A}</a:tableStyleId>
              </a:tblPr>
              <a:tblGrid>
                <a:gridCol w="2590006">
                  <a:extLst>
                    <a:ext uri="{9D8B030D-6E8A-4147-A177-3AD203B41FA5}">
                      <a16:colId xmlns:a16="http://schemas.microsoft.com/office/drawing/2014/main" val="676491"/>
                    </a:ext>
                  </a:extLst>
                </a:gridCol>
                <a:gridCol w="2590006">
                  <a:extLst>
                    <a:ext uri="{9D8B030D-6E8A-4147-A177-3AD203B41FA5}">
                      <a16:colId xmlns:a16="http://schemas.microsoft.com/office/drawing/2014/main" val="2540534617"/>
                    </a:ext>
                  </a:extLst>
                </a:gridCol>
                <a:gridCol w="2590006">
                  <a:extLst>
                    <a:ext uri="{9D8B030D-6E8A-4147-A177-3AD203B41FA5}">
                      <a16:colId xmlns:a16="http://schemas.microsoft.com/office/drawing/2014/main" val="2129806815"/>
                    </a:ext>
                  </a:extLst>
                </a:gridCol>
                <a:gridCol w="2590006">
                  <a:extLst>
                    <a:ext uri="{9D8B030D-6E8A-4147-A177-3AD203B41FA5}">
                      <a16:colId xmlns:a16="http://schemas.microsoft.com/office/drawing/2014/main" val="2232119204"/>
                    </a:ext>
                  </a:extLst>
                </a:gridCol>
              </a:tblGrid>
              <a:tr h="0">
                <a:tc>
                  <a:txBody>
                    <a:bodyPr/>
                    <a:lstStyle/>
                    <a:p>
                      <a:pPr>
                        <a:buNone/>
                        <a:tabLst>
                          <a:tab pos="3860800" algn="l"/>
                        </a:tabLst>
                      </a:pPr>
                      <a:r>
                        <a:rPr lang="en-IN" sz="1200">
                          <a:effectLst/>
                        </a:rPr>
                        <a:t>Comparison Criteria</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Legacy Desktop (Marg ERP)</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SaaS Cloud POS (Square/Odoo)</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MARKETA System (Proposed MERN)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030288283"/>
                  </a:ext>
                </a:extLst>
              </a:tr>
              <a:tr h="0">
                <a:tc>
                  <a:txBody>
                    <a:bodyPr/>
                    <a:lstStyle/>
                    <a:p>
                      <a:pPr>
                        <a:buNone/>
                        <a:tabLst>
                          <a:tab pos="3860800" algn="l"/>
                        </a:tabLst>
                      </a:pPr>
                      <a:r>
                        <a:rPr lang="en-IN" sz="1200">
                          <a:effectLst/>
                        </a:rPr>
                        <a:t>Architecture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Standalone Desktop (C++/VB)</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Vendor Cloud SaaS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Full-Stack MERN Web SPA</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613051037"/>
                  </a:ext>
                </a:extLst>
              </a:tr>
              <a:tr h="0">
                <a:tc>
                  <a:txBody>
                    <a:bodyPr/>
                    <a:lstStyle/>
                    <a:p>
                      <a:pPr>
                        <a:buNone/>
                        <a:tabLst>
                          <a:tab pos="3860800" algn="l"/>
                        </a:tabLst>
                      </a:pPr>
                      <a:r>
                        <a:rPr lang="en-IN" sz="1200">
                          <a:effectLst/>
                        </a:rPr>
                        <a:t>Cost Model</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High One-Time License Fee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Monthly Recurring Subscription</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Free &amp; Self-Hostable (Zero License Fee)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194677707"/>
                  </a:ext>
                </a:extLst>
              </a:tr>
              <a:tr h="0">
                <a:tc>
                  <a:txBody>
                    <a:bodyPr/>
                    <a:lstStyle/>
                    <a:p>
                      <a:pPr>
                        <a:buNone/>
                        <a:tabLst>
                          <a:tab pos="3860800" algn="l"/>
                        </a:tabLst>
                      </a:pPr>
                      <a:r>
                        <a:rPr lang="en-IN" sz="1200">
                          <a:effectLst/>
                        </a:rPr>
                        <a:t>Multi-Device Support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Restricted to Single PC</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Web / Mobile (Vendor Locked)</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Any Browser (Desktop, Tablet, Mobile)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816639068"/>
                  </a:ext>
                </a:extLst>
              </a:tr>
              <a:tr h="0">
                <a:tc>
                  <a:txBody>
                    <a:bodyPr/>
                    <a:lstStyle/>
                    <a:p>
                      <a:pPr>
                        <a:buNone/>
                        <a:tabLst>
                          <a:tab pos="3860800" algn="l"/>
                        </a:tabLst>
                      </a:pPr>
                      <a:r>
                        <a:rPr lang="en-IN" sz="1200">
                          <a:effectLst/>
                        </a:rPr>
                        <a:t>User Role Access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Basic Admin / User Accounts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Fixed Tier Roles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Granular Admin &amp; Manager with Approval Gate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814343756"/>
                  </a:ext>
                </a:extLst>
              </a:tr>
              <a:tr h="0">
                <a:tc>
                  <a:txBody>
                    <a:bodyPr/>
                    <a:lstStyle/>
                    <a:p>
                      <a:pPr>
                        <a:buNone/>
                        <a:tabLst>
                          <a:tab pos="3860800" algn="l"/>
                        </a:tabLst>
                      </a:pPr>
                      <a:r>
                        <a:rPr lang="en-IN" sz="1200">
                          <a:effectLst/>
                        </a:rPr>
                        <a:t>Stock Auto-Deduction</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Manual / Batch Processing</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Real-Time Sync</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Real-Time Auto-Deduction on POS Checkout</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016989691"/>
                  </a:ext>
                </a:extLst>
              </a:tr>
              <a:tr h="0">
                <a:tc>
                  <a:txBody>
                    <a:bodyPr/>
                    <a:lstStyle/>
                    <a:p>
                      <a:pPr>
                        <a:buNone/>
                        <a:tabLst>
                          <a:tab pos="3860800" algn="l"/>
                        </a:tabLst>
                      </a:pPr>
                      <a:r>
                        <a:rPr lang="en-IN" sz="1200">
                          <a:effectLst/>
                        </a:rPr>
                        <a:t>Low-Stock Alerting</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Static Manual Reports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Email Alerts (Paid Tier)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Automated Real-Time low_stock System Alerts</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418698889"/>
                  </a:ext>
                </a:extLst>
              </a:tr>
              <a:tr h="0">
                <a:tc>
                  <a:txBody>
                    <a:bodyPr/>
                    <a:lstStyle/>
                    <a:p>
                      <a:pPr>
                        <a:buNone/>
                        <a:tabLst>
                          <a:tab pos="3860800" algn="l"/>
                        </a:tabLst>
                      </a:pPr>
                      <a:r>
                        <a:rPr lang="en-IN" sz="1200">
                          <a:effectLst/>
                        </a:rPr>
                        <a:t>Receipt Printing</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Local Printer Drivers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Proprietary POS Printer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dirty="0">
                          <a:effectLst/>
                        </a:rPr>
                        <a:t>Browser-Native Thermal Printing (react-to-print)</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078944156"/>
                  </a:ext>
                </a:extLst>
              </a:tr>
            </a:tbl>
          </a:graphicData>
        </a:graphic>
      </p:graphicFrame>
    </p:spTree>
    <p:extLst>
      <p:ext uri="{BB962C8B-B14F-4D97-AF65-F5344CB8AC3E}">
        <p14:creationId xmlns:p14="http://schemas.microsoft.com/office/powerpoint/2010/main" val="344478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BECC82-DF68-A7A8-D57E-9C640040C255}"/>
              </a:ext>
            </a:extLst>
          </p:cNvPr>
          <p:cNvSpPr>
            <a:spLocks noGrp="1"/>
          </p:cNvSpPr>
          <p:nvPr>
            <p:ph idx="1"/>
          </p:nvPr>
        </p:nvSpPr>
        <p:spPr>
          <a:xfrm>
            <a:off x="1218883" y="980729"/>
            <a:ext cx="10360501" cy="5112568"/>
          </a:xfrm>
        </p:spPr>
        <p:txBody>
          <a:bodyPr>
            <a:normAutofit/>
          </a:bodyPr>
          <a:lstStyle/>
          <a:p>
            <a:pPr>
              <a:buFont typeface="Wingdings" panose="05000000000000000000" pitchFamily="2" charset="2"/>
              <a:buChar char="v"/>
            </a:pPr>
            <a:r>
              <a:rPr lang="en-IN" sz="2500" b="1" dirty="0"/>
              <a:t>Major Findings &amp; Research Gaps Identified :</a:t>
            </a:r>
            <a:endParaRPr lang="en-IN" sz="2500" dirty="0"/>
          </a:p>
          <a:p>
            <a:pPr marL="0" indent="0">
              <a:buNone/>
            </a:pPr>
            <a:endParaRPr lang="en-IN" dirty="0"/>
          </a:p>
          <a:p>
            <a:pPr lvl="0"/>
            <a:r>
              <a:rPr lang="en-IN" sz="2000" dirty="0"/>
              <a:t>High Licensing Burden: Small retail stores cannot sustain high SaaS subscriptions.</a:t>
            </a:r>
          </a:p>
          <a:p>
            <a:pPr marL="0" indent="0">
              <a:buNone/>
            </a:pPr>
            <a:endParaRPr lang="en-IN" sz="2000" dirty="0"/>
          </a:p>
          <a:p>
            <a:pPr lvl="0"/>
            <a:r>
              <a:rPr lang="en-IN" sz="2000" dirty="0"/>
              <a:t>Unregulated Manager Onboarding: Legacy systems lack staged approval gates for newly registered staff.</a:t>
            </a:r>
          </a:p>
          <a:p>
            <a:pPr marL="0" indent="0">
              <a:buNone/>
            </a:pPr>
            <a:endParaRPr lang="en-IN" sz="2000" dirty="0"/>
          </a:p>
          <a:p>
            <a:pPr lvl="0"/>
            <a:r>
              <a:rPr lang="en-IN" sz="2000" dirty="0"/>
              <a:t>Delayed Stock Auditing: Batch updates cause out-of-stock incidents during peak billing hours.</a:t>
            </a:r>
          </a:p>
          <a:p>
            <a:pPr marL="0" indent="0">
              <a:buNone/>
            </a:pPr>
            <a:endParaRPr lang="en-IN" sz="2000" dirty="0"/>
          </a:p>
          <a:p>
            <a:pPr lvl="0"/>
            <a:r>
              <a:rPr lang="en-IN" sz="2000" dirty="0"/>
              <a:t>Complex User Interfaces: Legacy software requires extensive staff training.</a:t>
            </a:r>
          </a:p>
          <a:p>
            <a:endParaRPr lang="en-IN" dirty="0"/>
          </a:p>
        </p:txBody>
      </p:sp>
    </p:spTree>
    <p:extLst>
      <p:ext uri="{BB962C8B-B14F-4D97-AF65-F5344CB8AC3E}">
        <p14:creationId xmlns:p14="http://schemas.microsoft.com/office/powerpoint/2010/main" val="48267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DCB65-005C-A049-6CA8-D4B87331E22C}"/>
              </a:ext>
            </a:extLst>
          </p:cNvPr>
          <p:cNvSpPr>
            <a:spLocks noGrp="1"/>
          </p:cNvSpPr>
          <p:nvPr>
            <p:ph type="title"/>
          </p:nvPr>
        </p:nvSpPr>
        <p:spPr>
          <a:xfrm>
            <a:off x="1218883" y="274637"/>
            <a:ext cx="10360501" cy="994123"/>
          </a:xfrm>
        </p:spPr>
        <p:txBody>
          <a:bodyPr>
            <a:normAutofit fontScale="90000"/>
          </a:bodyPr>
          <a:lstStyle/>
          <a:p>
            <a:pPr algn="ctr"/>
            <a:br>
              <a:rPr lang="en-US" b="1" dirty="0"/>
            </a:br>
            <a:br>
              <a:rPr lang="en-US" b="1" dirty="0"/>
            </a:br>
            <a:br>
              <a:rPr lang="en-US" b="1" dirty="0"/>
            </a:br>
            <a:br>
              <a:rPr lang="en-US" b="1" dirty="0"/>
            </a:br>
            <a:br>
              <a:rPr lang="en-US" b="1" dirty="0"/>
            </a:br>
            <a:r>
              <a:rPr lang="en-US" b="1" dirty="0"/>
              <a:t>4. TECHNICAL DESCRIPTION</a:t>
            </a:r>
            <a:br>
              <a:rPr lang="en-IN" dirty="0"/>
            </a:br>
            <a:endParaRPr lang="en-IN" dirty="0"/>
          </a:p>
        </p:txBody>
      </p:sp>
      <p:sp>
        <p:nvSpPr>
          <p:cNvPr id="3" name="Content Placeholder 2">
            <a:extLst>
              <a:ext uri="{FF2B5EF4-FFF2-40B4-BE49-F238E27FC236}">
                <a16:creationId xmlns:a16="http://schemas.microsoft.com/office/drawing/2014/main" id="{AB7253FE-8956-0F27-EBFF-7FC67D8CF81A}"/>
              </a:ext>
            </a:extLst>
          </p:cNvPr>
          <p:cNvSpPr>
            <a:spLocks noGrp="1"/>
          </p:cNvSpPr>
          <p:nvPr>
            <p:ph idx="1"/>
          </p:nvPr>
        </p:nvSpPr>
        <p:spPr>
          <a:xfrm>
            <a:off x="1218883" y="1052736"/>
            <a:ext cx="10360501" cy="5688632"/>
          </a:xfrm>
        </p:spPr>
        <p:txBody>
          <a:bodyPr>
            <a:normAutofit fontScale="85000" lnSpcReduction="20000"/>
          </a:bodyPr>
          <a:lstStyle/>
          <a:p>
            <a:pPr>
              <a:buFont typeface="Wingdings" panose="05000000000000000000" pitchFamily="2" charset="2"/>
              <a:buChar char="v"/>
            </a:pPr>
            <a:r>
              <a:rPr lang="en-US" dirty="0"/>
              <a:t> 4.1 </a:t>
            </a:r>
            <a:r>
              <a:rPr lang="en-US" b="1" dirty="0"/>
              <a:t>Hardware Requirement </a:t>
            </a:r>
            <a:endParaRPr lang="en-US" dirty="0"/>
          </a:p>
          <a:p>
            <a:r>
              <a:rPr lang="en-US" sz="2400" dirty="0"/>
              <a:t>This section specifies the empirical technical requirements verified directly from the MARKETA codebase (React 19.2.7, Vite 8.1.1, React-to-Print 3.3.0, Recharts 3.10.1, Axios 1.18.1, Inter Google Font, and responsive CSS layout engines) needed to open, run, and operate the web application on a user terminal.</a:t>
            </a:r>
          </a:p>
          <a:p>
            <a:endParaRPr lang="en-US" sz="2000" dirty="0"/>
          </a:p>
          <a:p>
            <a:endParaRPr lang="en-US"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lgn="ctr">
              <a:buNone/>
            </a:pPr>
            <a:endParaRPr lang="en-US" sz="2200" b="1" dirty="0"/>
          </a:p>
          <a:p>
            <a:pPr marL="0" indent="0" algn="ctr">
              <a:buNone/>
            </a:pPr>
            <a:endParaRPr lang="en-US" sz="2200" b="1" dirty="0"/>
          </a:p>
          <a:p>
            <a:pPr marL="0" indent="0" algn="ctr">
              <a:buNone/>
            </a:pPr>
            <a:r>
              <a:rPr lang="en-US" sz="2600" b="1" dirty="0"/>
              <a:t>Table 4.1 Hardware Requirement</a:t>
            </a:r>
            <a:endParaRPr lang="en-IN" sz="2600" b="1" dirty="0"/>
          </a:p>
          <a:p>
            <a:pPr marL="0" indent="0">
              <a:buNone/>
            </a:pPr>
            <a:endParaRPr lang="en-IN" sz="2000" dirty="0"/>
          </a:p>
          <a:p>
            <a:endParaRPr lang="en-IN" dirty="0"/>
          </a:p>
        </p:txBody>
      </p:sp>
      <p:graphicFrame>
        <p:nvGraphicFramePr>
          <p:cNvPr id="8" name="Table 7">
            <a:extLst>
              <a:ext uri="{FF2B5EF4-FFF2-40B4-BE49-F238E27FC236}">
                <a16:creationId xmlns:a16="http://schemas.microsoft.com/office/drawing/2014/main" id="{BBE5C83A-3A50-2DFD-18C4-2CE03C8311B2}"/>
              </a:ext>
            </a:extLst>
          </p:cNvPr>
          <p:cNvGraphicFramePr>
            <a:graphicFrameLocks noGrp="1"/>
          </p:cNvGraphicFramePr>
          <p:nvPr>
            <p:extLst>
              <p:ext uri="{D42A27DB-BD31-4B8C-83A1-F6EECF244321}">
                <p14:modId xmlns:p14="http://schemas.microsoft.com/office/powerpoint/2010/main" val="3545417134"/>
              </p:ext>
            </p:extLst>
          </p:nvPr>
        </p:nvGraphicFramePr>
        <p:xfrm>
          <a:off x="1218883" y="3068960"/>
          <a:ext cx="10360026" cy="2590800"/>
        </p:xfrm>
        <a:graphic>
          <a:graphicData uri="http://schemas.openxmlformats.org/drawingml/2006/table">
            <a:tbl>
              <a:tblPr firstRow="1" firstCol="1" bandRow="1">
                <a:tableStyleId>{5C22544A-7EE6-4342-B048-85BDC9FD1C3A}</a:tableStyleId>
              </a:tblPr>
              <a:tblGrid>
                <a:gridCol w="3453342">
                  <a:extLst>
                    <a:ext uri="{9D8B030D-6E8A-4147-A177-3AD203B41FA5}">
                      <a16:colId xmlns:a16="http://schemas.microsoft.com/office/drawing/2014/main" val="3914967117"/>
                    </a:ext>
                  </a:extLst>
                </a:gridCol>
                <a:gridCol w="3453342">
                  <a:extLst>
                    <a:ext uri="{9D8B030D-6E8A-4147-A177-3AD203B41FA5}">
                      <a16:colId xmlns:a16="http://schemas.microsoft.com/office/drawing/2014/main" val="2107022447"/>
                    </a:ext>
                  </a:extLst>
                </a:gridCol>
                <a:gridCol w="3453342">
                  <a:extLst>
                    <a:ext uri="{9D8B030D-6E8A-4147-A177-3AD203B41FA5}">
                      <a16:colId xmlns:a16="http://schemas.microsoft.com/office/drawing/2014/main" val="603217159"/>
                    </a:ext>
                  </a:extLst>
                </a:gridCol>
              </a:tblGrid>
              <a:tr h="239479">
                <a:tc>
                  <a:txBody>
                    <a:bodyPr/>
                    <a:lstStyle/>
                    <a:p>
                      <a:pPr>
                        <a:buNone/>
                      </a:pPr>
                      <a:r>
                        <a:rPr lang="en-IN" sz="1200">
                          <a:effectLst/>
                        </a:rPr>
                        <a:t>Hardware Component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Minimum System Requirement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Recommended System Requirement</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012825778"/>
                  </a:ext>
                </a:extLst>
              </a:tr>
              <a:tr h="239479">
                <a:tc>
                  <a:txBody>
                    <a:bodyPr/>
                    <a:lstStyle/>
                    <a:p>
                      <a:pPr>
                        <a:buNone/>
                      </a:pPr>
                      <a:r>
                        <a:rPr lang="en-IN" sz="1200" dirty="0">
                          <a:effectLst/>
                        </a:rPr>
                        <a:t>Device Category</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Desktop PC, Laptop, POS Terminal, or Tablet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Desktop PC or Dedicated POS Touch Terminal</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130288462"/>
                  </a:ext>
                </a:extLst>
              </a:tr>
              <a:tr h="239479">
                <a:tc>
                  <a:txBody>
                    <a:bodyPr/>
                    <a:lstStyle/>
                    <a:p>
                      <a:pPr>
                        <a:buNone/>
                      </a:pPr>
                      <a:r>
                        <a:rPr lang="en-IN" sz="1200">
                          <a:effectLst/>
                        </a:rPr>
                        <a:t>Processor (CPU)</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Dual-Core 1.6 GHz (Intel / AMD / ARM)</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Intel Core i3 / AMD Ryzen 3 (Quad-Core 2.0 GHz+)</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677911937"/>
                  </a:ext>
                </a:extLst>
              </a:tr>
              <a:tr h="239479">
                <a:tc>
                  <a:txBody>
                    <a:bodyPr/>
                    <a:lstStyle/>
                    <a:p>
                      <a:pPr>
                        <a:buNone/>
                      </a:pPr>
                      <a:r>
                        <a:rPr lang="en-IN" sz="1200">
                          <a:effectLst/>
                        </a:rPr>
                        <a:t>System Memory (RAM)</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2 GB DDR3</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4 GB DDR4 or higher</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289214710"/>
                  </a:ext>
                </a:extLst>
              </a:tr>
              <a:tr h="239479">
                <a:tc>
                  <a:txBody>
                    <a:bodyPr/>
                    <a:lstStyle/>
                    <a:p>
                      <a:pPr>
                        <a:buNone/>
                      </a:pPr>
                      <a:r>
                        <a:rPr lang="en-IN" sz="1200">
                          <a:effectLst/>
                        </a:rPr>
                        <a:t>Storage / Disk Space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500 MB free space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2 GB free SSD storage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805113815"/>
                  </a:ext>
                </a:extLst>
              </a:tr>
              <a:tr h="239479">
                <a:tc>
                  <a:txBody>
                    <a:bodyPr/>
                    <a:lstStyle/>
                    <a:p>
                      <a:pPr>
                        <a:buNone/>
                      </a:pPr>
                      <a:r>
                        <a:rPr lang="en-IN" sz="1200">
                          <a:effectLst/>
                        </a:rPr>
                        <a:t>Display Resolution</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1024 × 768 pixels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1920 × 1080 pixels (Full HD)</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12905934"/>
                  </a:ext>
                </a:extLst>
              </a:tr>
              <a:tr h="396944">
                <a:tc>
                  <a:txBody>
                    <a:bodyPr/>
                    <a:lstStyle/>
                    <a:p>
                      <a:pPr>
                        <a:buNone/>
                      </a:pPr>
                      <a:r>
                        <a:rPr lang="en-IN" sz="1200">
                          <a:effectLst/>
                        </a:rPr>
                        <a:t>Barcode Scanner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Optional (Manual search supported)</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Handheld USB / Wireless 1D/2D Laser Barcode Scanner</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190837842"/>
                  </a:ext>
                </a:extLst>
              </a:tr>
              <a:tr h="396944">
                <a:tc>
                  <a:txBody>
                    <a:bodyPr/>
                    <a:lstStyle/>
                    <a:p>
                      <a:pPr>
                        <a:buNone/>
                      </a:pPr>
                      <a:r>
                        <a:rPr lang="en-IN" sz="1200">
                          <a:effectLst/>
                        </a:rPr>
                        <a:t>Receipt Printer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Standard PDF Printer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dirty="0">
                          <a:effectLst/>
                        </a:rPr>
                        <a:t>80mm Thermal Receipt Printer (ESC/POS compatible)</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915984676"/>
                  </a:ext>
                </a:extLst>
              </a:tr>
            </a:tbl>
          </a:graphicData>
        </a:graphic>
      </p:graphicFrame>
    </p:spTree>
    <p:extLst>
      <p:ext uri="{BB962C8B-B14F-4D97-AF65-F5344CB8AC3E}">
        <p14:creationId xmlns:p14="http://schemas.microsoft.com/office/powerpoint/2010/main" val="32323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4FD1F0-E54F-8AFE-53D0-9D54D3A87327}"/>
              </a:ext>
            </a:extLst>
          </p:cNvPr>
          <p:cNvSpPr>
            <a:spLocks noGrp="1"/>
          </p:cNvSpPr>
          <p:nvPr>
            <p:ph idx="1"/>
          </p:nvPr>
        </p:nvSpPr>
        <p:spPr>
          <a:xfrm>
            <a:off x="1218723" y="657309"/>
            <a:ext cx="10360501" cy="5543381"/>
          </a:xfrm>
        </p:spPr>
        <p:txBody>
          <a:bodyPr>
            <a:normAutofit/>
          </a:bodyPr>
          <a:lstStyle/>
          <a:p>
            <a:pPr>
              <a:buFont typeface="Wingdings" panose="05000000000000000000" pitchFamily="2" charset="2"/>
              <a:buChar char="v"/>
            </a:pPr>
            <a:r>
              <a:rPr lang="en-US" sz="2500" dirty="0"/>
              <a:t> 4.2 </a:t>
            </a:r>
            <a:r>
              <a:rPr lang="en-US" sz="2500" b="1" dirty="0"/>
              <a:t>Software Requirement </a:t>
            </a:r>
          </a:p>
          <a:p>
            <a:pPr marL="0" indent="0">
              <a:buNone/>
            </a:pPr>
            <a:r>
              <a:rPr lang="en-US" sz="2000" dirty="0"/>
              <a:t>Based on codebase analysis of ES2022+ ECMAScript syntax, HTML5 Canvas/SVG, Web Storage APIs, and CSS variable dependencies:</a:t>
            </a:r>
            <a:endParaRPr lang="en-IN" sz="20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lgn="ctr">
              <a:buNone/>
            </a:pPr>
            <a:r>
              <a:rPr lang="en-US" sz="2200" b="1" dirty="0"/>
              <a:t>Table 4.2 Software Requirement</a:t>
            </a:r>
            <a:endParaRPr lang="en-IN" sz="2200" b="1" dirty="0"/>
          </a:p>
          <a:p>
            <a:pPr marL="0" indent="0">
              <a:buNone/>
            </a:pPr>
            <a:endParaRPr lang="en-IN" sz="2500" dirty="0"/>
          </a:p>
        </p:txBody>
      </p:sp>
      <p:graphicFrame>
        <p:nvGraphicFramePr>
          <p:cNvPr id="4" name="Table 3">
            <a:extLst>
              <a:ext uri="{FF2B5EF4-FFF2-40B4-BE49-F238E27FC236}">
                <a16:creationId xmlns:a16="http://schemas.microsoft.com/office/drawing/2014/main" id="{EBE76D8D-B6E1-4149-E2F0-0E5DA3494099}"/>
              </a:ext>
            </a:extLst>
          </p:cNvPr>
          <p:cNvGraphicFramePr>
            <a:graphicFrameLocks noGrp="1"/>
          </p:cNvGraphicFramePr>
          <p:nvPr>
            <p:extLst>
              <p:ext uri="{D42A27DB-BD31-4B8C-83A1-F6EECF244321}">
                <p14:modId xmlns:p14="http://schemas.microsoft.com/office/powerpoint/2010/main" val="1457875106"/>
              </p:ext>
            </p:extLst>
          </p:nvPr>
        </p:nvGraphicFramePr>
        <p:xfrm>
          <a:off x="1201107" y="2420888"/>
          <a:ext cx="10360024" cy="2495550"/>
        </p:xfrm>
        <a:graphic>
          <a:graphicData uri="http://schemas.openxmlformats.org/drawingml/2006/table">
            <a:tbl>
              <a:tblPr firstRow="1" firstCol="1" bandRow="1">
                <a:tableStyleId>{5C22544A-7EE6-4342-B048-85BDC9FD1C3A}</a:tableStyleId>
              </a:tblPr>
              <a:tblGrid>
                <a:gridCol w="5180012">
                  <a:extLst>
                    <a:ext uri="{9D8B030D-6E8A-4147-A177-3AD203B41FA5}">
                      <a16:colId xmlns:a16="http://schemas.microsoft.com/office/drawing/2014/main" val="2822018779"/>
                    </a:ext>
                  </a:extLst>
                </a:gridCol>
                <a:gridCol w="5180012">
                  <a:extLst>
                    <a:ext uri="{9D8B030D-6E8A-4147-A177-3AD203B41FA5}">
                      <a16:colId xmlns:a16="http://schemas.microsoft.com/office/drawing/2014/main" val="2107133703"/>
                    </a:ext>
                  </a:extLst>
                </a:gridCol>
              </a:tblGrid>
              <a:tr h="278130">
                <a:tc>
                  <a:txBody>
                    <a:bodyPr/>
                    <a:lstStyle/>
                    <a:p>
                      <a:pPr algn="just">
                        <a:buNone/>
                        <a:tabLst>
                          <a:tab pos="3691255" algn="l"/>
                        </a:tabLst>
                      </a:pPr>
                      <a:r>
                        <a:rPr lang="en-IN" sz="1200">
                          <a:effectLst/>
                        </a:rPr>
                        <a:t>Software Component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Verified Technical Specification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885850169"/>
                  </a:ext>
                </a:extLst>
              </a:tr>
              <a:tr h="461010">
                <a:tc>
                  <a:txBody>
                    <a:bodyPr/>
                    <a:lstStyle/>
                    <a:p>
                      <a:pPr algn="just">
                        <a:buNone/>
                        <a:tabLst>
                          <a:tab pos="3691255" algn="l"/>
                        </a:tabLst>
                      </a:pPr>
                      <a:r>
                        <a:rPr lang="en-IN" sz="1200">
                          <a:effectLst/>
                        </a:rPr>
                        <a:t>Supported Operating Systems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Windows 10/11, macOS 10.15+, Ubuntu Linux 20.04+, Android 10+ (Tablets), iOS/iPadOS 14+</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589272042"/>
                  </a:ext>
                </a:extLst>
              </a:tr>
              <a:tr h="278130">
                <a:tc>
                  <a:txBody>
                    <a:bodyPr/>
                    <a:lstStyle/>
                    <a:p>
                      <a:pPr algn="just">
                        <a:buNone/>
                        <a:tabLst>
                          <a:tab pos="3691255" algn="l"/>
                        </a:tabLst>
                      </a:pPr>
                      <a:r>
                        <a:rPr lang="en-IN" sz="1200">
                          <a:effectLst/>
                        </a:rPr>
                        <a:t>Recommended Web Browser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Google Chrome </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289230632"/>
                  </a:ext>
                </a:extLst>
              </a:tr>
              <a:tr h="643890">
                <a:tc>
                  <a:txBody>
                    <a:bodyPr/>
                    <a:lstStyle/>
                    <a:p>
                      <a:pPr algn="just">
                        <a:buNone/>
                        <a:tabLst>
                          <a:tab pos="3691255" algn="l"/>
                        </a:tabLst>
                      </a:pPr>
                      <a:r>
                        <a:rPr lang="en-IN" sz="1200" dirty="0">
                          <a:effectLst/>
                        </a:rPr>
                        <a:t>Alternative Supported Browsers</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l">
                        <a:buNone/>
                        <a:tabLst>
                          <a:tab pos="3691255" algn="l"/>
                        </a:tabLst>
                      </a:pPr>
                      <a:r>
                        <a:rPr lang="en-IN" sz="1200" dirty="0">
                          <a:effectLst/>
                        </a:rPr>
                        <a:t>• Microsoft Edge </a:t>
                      </a:r>
                      <a:br>
                        <a:rPr lang="en-IN" sz="1200" dirty="0">
                          <a:effectLst/>
                        </a:rPr>
                      </a:br>
                      <a:r>
                        <a:rPr lang="en-IN" sz="1200" dirty="0">
                          <a:effectLst/>
                        </a:rPr>
                        <a:t>• Mozilla Firefox </a:t>
                      </a:r>
                      <a:br>
                        <a:rPr lang="en-IN" sz="1200" dirty="0">
                          <a:effectLst/>
                        </a:rPr>
                      </a:br>
                      <a:r>
                        <a:rPr lang="en-IN" sz="1200" dirty="0">
                          <a:effectLst/>
                        </a:rPr>
                        <a:t>• Apple Safari </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781859009"/>
                  </a:ext>
                </a:extLst>
              </a:tr>
              <a:tr h="278130">
                <a:tc>
                  <a:txBody>
                    <a:bodyPr/>
                    <a:lstStyle/>
                    <a:p>
                      <a:pPr algn="just">
                        <a:buNone/>
                        <a:tabLst>
                          <a:tab pos="3691255" algn="l"/>
                        </a:tabLst>
                      </a:pPr>
                      <a:r>
                        <a:rPr lang="en-IN" sz="1200">
                          <a:effectLst/>
                        </a:rPr>
                        <a:t>JavaScript Engine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dirty="0">
                          <a:effectLst/>
                        </a:rPr>
                        <a:t>JavaScript (ES6+) Enabled</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601363671"/>
                  </a:ext>
                </a:extLst>
              </a:tr>
              <a:tr h="278130">
                <a:tc>
                  <a:txBody>
                    <a:bodyPr/>
                    <a:lstStyle/>
                    <a:p>
                      <a:pPr algn="just">
                        <a:buNone/>
                        <a:tabLst>
                          <a:tab pos="3691255" algn="l"/>
                        </a:tabLst>
                      </a:pPr>
                      <a:r>
                        <a:rPr lang="en-IN" sz="1200">
                          <a:effectLst/>
                        </a:rPr>
                        <a:t>Web Storage Support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LocalStorage &amp; SessionStorage Enabled</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03460381"/>
                  </a:ext>
                </a:extLst>
              </a:tr>
              <a:tr h="278130">
                <a:tc>
                  <a:txBody>
                    <a:bodyPr/>
                    <a:lstStyle/>
                    <a:p>
                      <a:pPr algn="just">
                        <a:buNone/>
                        <a:tabLst>
                          <a:tab pos="3691255" algn="l"/>
                        </a:tabLst>
                      </a:pPr>
                      <a:r>
                        <a:rPr lang="en-IN" sz="1200">
                          <a:effectLst/>
                        </a:rPr>
                        <a:t>Browser Window Permissions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dirty="0">
                          <a:effectLst/>
                        </a:rPr>
                        <a:t>Pop-up / Print Dialogs Allowed</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771387247"/>
                  </a:ext>
                </a:extLst>
              </a:tr>
            </a:tbl>
          </a:graphicData>
        </a:graphic>
      </p:graphicFrame>
    </p:spTree>
    <p:extLst>
      <p:ext uri="{BB962C8B-B14F-4D97-AF65-F5344CB8AC3E}">
        <p14:creationId xmlns:p14="http://schemas.microsoft.com/office/powerpoint/2010/main" val="8475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421B2-E704-A6AD-A3DB-A099C05ECE1D}"/>
              </a:ext>
            </a:extLst>
          </p:cNvPr>
          <p:cNvSpPr>
            <a:spLocks noGrp="1"/>
          </p:cNvSpPr>
          <p:nvPr>
            <p:ph idx="1"/>
          </p:nvPr>
        </p:nvSpPr>
        <p:spPr>
          <a:xfrm>
            <a:off x="1218883" y="620688"/>
            <a:ext cx="10360501" cy="5543381"/>
          </a:xfrm>
        </p:spPr>
        <p:txBody>
          <a:bodyPr>
            <a:normAutofit/>
          </a:bodyPr>
          <a:lstStyle/>
          <a:p>
            <a:pPr marL="0" indent="0">
              <a:buNone/>
            </a:pPr>
            <a:r>
              <a:rPr lang="en-IN" b="1" dirty="0"/>
              <a:t>Network &amp; Connectivity Requirements :</a:t>
            </a:r>
          </a:p>
          <a:p>
            <a:pPr marL="0" indent="0">
              <a:buNone/>
            </a:pPr>
            <a:r>
              <a:rPr lang="en-US" sz="2000" dirty="0"/>
              <a:t>Based on codebase analysis of Axios REST API HTTP request payloads and Vite dev/proxy server configurations (vite.config.js port 5173 &amp; Express backend port 5000):</a:t>
            </a:r>
            <a:endParaRPr lang="en-IN" sz="2000"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lgn="ctr">
              <a:buNone/>
            </a:pPr>
            <a:endParaRPr lang="en-US" sz="2200" b="1" dirty="0"/>
          </a:p>
          <a:p>
            <a:pPr marL="0" indent="0" algn="ctr">
              <a:buNone/>
            </a:pPr>
            <a:r>
              <a:rPr lang="en-US" sz="2200" b="1" dirty="0"/>
              <a:t>Table 4.3 Network &amp; Connectivity Requirements</a:t>
            </a:r>
            <a:endParaRPr lang="en-IN" sz="2200" b="1" dirty="0"/>
          </a:p>
          <a:p>
            <a:pPr marL="0" indent="0">
              <a:buNone/>
            </a:pPr>
            <a:endParaRPr lang="en-IN" dirty="0"/>
          </a:p>
          <a:p>
            <a:pPr marL="0" indent="0">
              <a:buNone/>
            </a:pPr>
            <a:endParaRPr lang="en-IN" dirty="0"/>
          </a:p>
        </p:txBody>
      </p:sp>
      <p:graphicFrame>
        <p:nvGraphicFramePr>
          <p:cNvPr id="4" name="Table 3">
            <a:extLst>
              <a:ext uri="{FF2B5EF4-FFF2-40B4-BE49-F238E27FC236}">
                <a16:creationId xmlns:a16="http://schemas.microsoft.com/office/drawing/2014/main" id="{472B8E98-E94F-67A8-6A4C-01595DABFE1F}"/>
              </a:ext>
            </a:extLst>
          </p:cNvPr>
          <p:cNvGraphicFramePr>
            <a:graphicFrameLocks noGrp="1"/>
          </p:cNvGraphicFramePr>
          <p:nvPr>
            <p:extLst>
              <p:ext uri="{D42A27DB-BD31-4B8C-83A1-F6EECF244321}">
                <p14:modId xmlns:p14="http://schemas.microsoft.com/office/powerpoint/2010/main" val="3096183117"/>
              </p:ext>
            </p:extLst>
          </p:nvPr>
        </p:nvGraphicFramePr>
        <p:xfrm>
          <a:off x="1219360" y="2605613"/>
          <a:ext cx="10360024" cy="1573530"/>
        </p:xfrm>
        <a:graphic>
          <a:graphicData uri="http://schemas.openxmlformats.org/drawingml/2006/table">
            <a:tbl>
              <a:tblPr firstRow="1" firstCol="1" bandRow="1">
                <a:tableStyleId>{5C22544A-7EE6-4342-B048-85BDC9FD1C3A}</a:tableStyleId>
              </a:tblPr>
              <a:tblGrid>
                <a:gridCol w="5180012">
                  <a:extLst>
                    <a:ext uri="{9D8B030D-6E8A-4147-A177-3AD203B41FA5}">
                      <a16:colId xmlns:a16="http://schemas.microsoft.com/office/drawing/2014/main" val="586221119"/>
                    </a:ext>
                  </a:extLst>
                </a:gridCol>
                <a:gridCol w="5180012">
                  <a:extLst>
                    <a:ext uri="{9D8B030D-6E8A-4147-A177-3AD203B41FA5}">
                      <a16:colId xmlns:a16="http://schemas.microsoft.com/office/drawing/2014/main" val="1562179334"/>
                    </a:ext>
                  </a:extLst>
                </a:gridCol>
              </a:tblGrid>
              <a:tr h="278130">
                <a:tc>
                  <a:txBody>
                    <a:bodyPr/>
                    <a:lstStyle/>
                    <a:p>
                      <a:pPr>
                        <a:buNone/>
                        <a:tabLst>
                          <a:tab pos="1041400" algn="l"/>
                        </a:tabLst>
                      </a:pPr>
                      <a:r>
                        <a:rPr lang="en-IN" sz="1200">
                          <a:effectLst/>
                        </a:rPr>
                        <a:t>Network Parameter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Verified Technical Specification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71368848"/>
                  </a:ext>
                </a:extLst>
              </a:tr>
              <a:tr h="278130">
                <a:tc>
                  <a:txBody>
                    <a:bodyPr/>
                    <a:lstStyle/>
                    <a:p>
                      <a:pPr>
                        <a:buNone/>
                        <a:tabLst>
                          <a:tab pos="1041400" algn="l"/>
                        </a:tabLst>
                      </a:pPr>
                      <a:r>
                        <a:rPr lang="en-IN" sz="1200">
                          <a:effectLst/>
                        </a:rPr>
                        <a:t>Network Type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Local Area Network (LAN), Wi-Fi, or Cellular Data (3G / 4G / 5G)</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28581542"/>
                  </a:ext>
                </a:extLst>
              </a:tr>
              <a:tr h="278130">
                <a:tc>
                  <a:txBody>
                    <a:bodyPr/>
                    <a:lstStyle/>
                    <a:p>
                      <a:pPr>
                        <a:buNone/>
                        <a:tabLst>
                          <a:tab pos="1041400" algn="l"/>
                        </a:tabLst>
                      </a:pPr>
                      <a:r>
                        <a:rPr lang="en-IN" sz="1200">
                          <a:effectLst/>
                        </a:rPr>
                        <a:t>Network Bandwidth</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Minimum 1 Mbps stable connection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735626755"/>
                  </a:ext>
                </a:extLst>
              </a:tr>
              <a:tr h="278130">
                <a:tc>
                  <a:txBody>
                    <a:bodyPr/>
                    <a:lstStyle/>
                    <a:p>
                      <a:pPr>
                        <a:buNone/>
                        <a:tabLst>
                          <a:tab pos="1041400" algn="l"/>
                        </a:tabLst>
                      </a:pPr>
                      <a:r>
                        <a:rPr lang="en-IN" sz="1200">
                          <a:effectLst/>
                        </a:rPr>
                        <a:t>Communication Protocol</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HTTP / HTTPS (RESTful Architecture)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434825613"/>
                  </a:ext>
                </a:extLst>
              </a:tr>
              <a:tr h="461010">
                <a:tc>
                  <a:txBody>
                    <a:bodyPr/>
                    <a:lstStyle/>
                    <a:p>
                      <a:pPr>
                        <a:buNone/>
                        <a:tabLst>
                          <a:tab pos="1041400" algn="l"/>
                        </a:tabLst>
                      </a:pPr>
                      <a:r>
                        <a:rPr lang="en-IN" sz="1200" dirty="0">
                          <a:effectLst/>
                        </a:rPr>
                        <a:t>Default Operating Ports</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dirty="0">
                          <a:effectLst/>
                        </a:rPr>
                        <a:t>• Frontend: Port 5173 (Vite Server) / 80 (HTTP) / 443 (HTTPS)</a:t>
                      </a:r>
                      <a:br>
                        <a:rPr lang="en-IN" sz="1200" dirty="0">
                          <a:effectLst/>
                        </a:rPr>
                      </a:br>
                      <a:r>
                        <a:rPr lang="en-IN" sz="1200" dirty="0">
                          <a:effectLst/>
                        </a:rPr>
                        <a:t>• Backend API: Port 5000</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054965328"/>
                  </a:ext>
                </a:extLst>
              </a:tr>
            </a:tbl>
          </a:graphicData>
        </a:graphic>
      </p:graphicFrame>
    </p:spTree>
    <p:extLst>
      <p:ext uri="{BB962C8B-B14F-4D97-AF65-F5344CB8AC3E}">
        <p14:creationId xmlns:p14="http://schemas.microsoft.com/office/powerpoint/2010/main" val="4250261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73EA-99F1-9309-C41B-B9B68075099D}"/>
              </a:ext>
            </a:extLst>
          </p:cNvPr>
          <p:cNvSpPr>
            <a:spLocks noGrp="1"/>
          </p:cNvSpPr>
          <p:nvPr>
            <p:ph type="title"/>
          </p:nvPr>
        </p:nvSpPr>
        <p:spPr>
          <a:xfrm>
            <a:off x="1218882" y="332656"/>
            <a:ext cx="9988098" cy="1152128"/>
          </a:xfrm>
        </p:spPr>
        <p:txBody>
          <a:bodyPr>
            <a:normAutofit/>
          </a:bodyPr>
          <a:lstStyle/>
          <a:p>
            <a:pPr algn="ctr"/>
            <a:r>
              <a:rPr lang="en-US" sz="3600" b="1" dirty="0">
                <a:solidFill>
                  <a:schemeClr val="tx1"/>
                </a:solidFill>
              </a:rPr>
              <a:t>5. SYSTEM DESIGN AND DEVELOPMENT</a:t>
            </a:r>
            <a:endParaRPr lang="en-IN" sz="3600" dirty="0"/>
          </a:p>
        </p:txBody>
      </p:sp>
      <p:sp>
        <p:nvSpPr>
          <p:cNvPr id="3" name="Text Placeholder 2">
            <a:extLst>
              <a:ext uri="{FF2B5EF4-FFF2-40B4-BE49-F238E27FC236}">
                <a16:creationId xmlns:a16="http://schemas.microsoft.com/office/drawing/2014/main" id="{FE16FB1A-2977-0EDF-8769-757317E71346}"/>
              </a:ext>
            </a:extLst>
          </p:cNvPr>
          <p:cNvSpPr>
            <a:spLocks noGrp="1"/>
          </p:cNvSpPr>
          <p:nvPr>
            <p:ph type="body" sz="half" idx="2"/>
          </p:nvPr>
        </p:nvSpPr>
        <p:spPr>
          <a:xfrm>
            <a:off x="1218882" y="1628800"/>
            <a:ext cx="2664296" cy="686052"/>
          </a:xfrm>
        </p:spPr>
        <p:txBody>
          <a:bodyPr/>
          <a:lstStyle/>
          <a:p>
            <a:r>
              <a:rPr lang="en-US" sz="2400" b="1" dirty="0"/>
              <a:t>5.1 Flow Chart:</a:t>
            </a:r>
            <a:endParaRPr lang="en-IN" sz="2400" dirty="0"/>
          </a:p>
          <a:p>
            <a:endParaRPr lang="en-IN" dirty="0"/>
          </a:p>
        </p:txBody>
      </p:sp>
      <p:pic>
        <p:nvPicPr>
          <p:cNvPr id="5" name="Content Placeholder 4">
            <a:extLst>
              <a:ext uri="{FF2B5EF4-FFF2-40B4-BE49-F238E27FC236}">
                <a16:creationId xmlns:a16="http://schemas.microsoft.com/office/drawing/2014/main" id="{57402D2A-BD0C-7A2D-616D-6805D9A2B0F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0424" y="2762997"/>
            <a:ext cx="7285013" cy="3762573"/>
          </a:xfrm>
          <a:prstGeom prst="rect">
            <a:avLst/>
          </a:prstGeom>
          <a:noFill/>
          <a:ln>
            <a:noFill/>
          </a:ln>
        </p:spPr>
      </p:pic>
    </p:spTree>
    <p:extLst>
      <p:ext uri="{BB962C8B-B14F-4D97-AF65-F5344CB8AC3E}">
        <p14:creationId xmlns:p14="http://schemas.microsoft.com/office/powerpoint/2010/main" val="216103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2A94-32FB-B3E0-403F-10D9F1761EE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1C0B244-CA1C-7D61-11B1-B8B19CB76EB8}"/>
              </a:ext>
            </a:extLst>
          </p:cNvPr>
          <p:cNvSpPr>
            <a:spLocks noGrp="1"/>
          </p:cNvSpPr>
          <p:nvPr>
            <p:ph type="body" sz="half" idx="2"/>
          </p:nvPr>
        </p:nvSpPr>
        <p:spPr>
          <a:xfrm>
            <a:off x="1197868" y="512676"/>
            <a:ext cx="3960440" cy="1224136"/>
          </a:xfrm>
        </p:spPr>
        <p:txBody>
          <a:bodyPr/>
          <a:lstStyle/>
          <a:p>
            <a:r>
              <a:rPr lang="en-US" sz="2400" b="1" dirty="0"/>
              <a:t>5.2 Data Flow Diagram:</a:t>
            </a:r>
            <a:endParaRPr lang="en-IN" sz="2400" dirty="0"/>
          </a:p>
          <a:p>
            <a:r>
              <a:rPr lang="en-US" sz="2400" b="1" dirty="0"/>
              <a:t>Level 0:-</a:t>
            </a:r>
            <a:endParaRPr lang="en-IN" sz="2400" dirty="0"/>
          </a:p>
          <a:p>
            <a:endParaRPr lang="en-IN" sz="2400" dirty="0"/>
          </a:p>
        </p:txBody>
      </p:sp>
      <p:pic>
        <p:nvPicPr>
          <p:cNvPr id="2" name="Picture 1">
            <a:extLst>
              <a:ext uri="{FF2B5EF4-FFF2-40B4-BE49-F238E27FC236}">
                <a16:creationId xmlns:a16="http://schemas.microsoft.com/office/drawing/2014/main" id="{AC4D155F-94CA-7B71-ED30-F0A6409E5324}"/>
              </a:ext>
            </a:extLst>
          </p:cNvPr>
          <p:cNvPicPr>
            <a:picLocks noChangeAspect="1"/>
          </p:cNvPicPr>
          <p:nvPr/>
        </p:nvPicPr>
        <p:blipFill>
          <a:blip r:embed="rId2"/>
          <a:stretch>
            <a:fillRect/>
          </a:stretch>
        </p:blipFill>
        <p:spPr>
          <a:xfrm>
            <a:off x="2460275" y="1988840"/>
            <a:ext cx="7268274" cy="3474720"/>
          </a:xfrm>
          <a:prstGeom prst="rect">
            <a:avLst/>
          </a:prstGeom>
        </p:spPr>
      </p:pic>
    </p:spTree>
    <p:extLst>
      <p:ext uri="{BB962C8B-B14F-4D97-AF65-F5344CB8AC3E}">
        <p14:creationId xmlns:p14="http://schemas.microsoft.com/office/powerpoint/2010/main" val="47672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7878-1B73-88D1-B4F3-08788C0807A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A33E6B3-A0BB-8436-0226-8743DFC6ED52}"/>
              </a:ext>
            </a:extLst>
          </p:cNvPr>
          <p:cNvSpPr>
            <a:spLocks noGrp="1"/>
          </p:cNvSpPr>
          <p:nvPr>
            <p:ph type="body" sz="half" idx="2"/>
          </p:nvPr>
        </p:nvSpPr>
        <p:spPr>
          <a:xfrm>
            <a:off x="1269876" y="548680"/>
            <a:ext cx="3960440" cy="864096"/>
          </a:xfrm>
        </p:spPr>
        <p:txBody>
          <a:bodyPr/>
          <a:lstStyle/>
          <a:p>
            <a:r>
              <a:rPr lang="en-US" sz="2400" b="1" dirty="0"/>
              <a:t>Level 1:-</a:t>
            </a:r>
            <a:endParaRPr lang="en-IN" sz="2400" dirty="0"/>
          </a:p>
          <a:p>
            <a:endParaRPr lang="en-IN" sz="2400" dirty="0"/>
          </a:p>
        </p:txBody>
      </p:sp>
      <p:pic>
        <p:nvPicPr>
          <p:cNvPr id="5" name="Content Placeholder 4">
            <a:extLst>
              <a:ext uri="{FF2B5EF4-FFF2-40B4-BE49-F238E27FC236}">
                <a16:creationId xmlns:a16="http://schemas.microsoft.com/office/drawing/2014/main" id="{32FE5966-1FA3-4308-A9FA-C51F772488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948" y="1556792"/>
            <a:ext cx="9073008" cy="4752528"/>
          </a:xfrm>
          <a:prstGeom prst="rect">
            <a:avLst/>
          </a:prstGeom>
        </p:spPr>
      </p:pic>
    </p:spTree>
    <p:extLst>
      <p:ext uri="{BB962C8B-B14F-4D97-AF65-F5344CB8AC3E}">
        <p14:creationId xmlns:p14="http://schemas.microsoft.com/office/powerpoint/2010/main" val="255470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8705-6604-7B67-A90C-4545ABE9264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D2F3366-2C3B-B85F-7363-7C95D96A5A06}"/>
              </a:ext>
            </a:extLst>
          </p:cNvPr>
          <p:cNvSpPr>
            <a:spLocks noGrp="1"/>
          </p:cNvSpPr>
          <p:nvPr>
            <p:ph type="body" sz="half" idx="2"/>
          </p:nvPr>
        </p:nvSpPr>
        <p:spPr>
          <a:xfrm>
            <a:off x="1197868" y="404664"/>
            <a:ext cx="3960440" cy="648072"/>
          </a:xfrm>
        </p:spPr>
        <p:txBody>
          <a:bodyPr/>
          <a:lstStyle/>
          <a:p>
            <a:r>
              <a:rPr lang="en-US" sz="2400" b="1" dirty="0"/>
              <a:t>5.3 Use Case Diagram:</a:t>
            </a:r>
            <a:endParaRPr lang="en-IN" sz="2400" dirty="0"/>
          </a:p>
          <a:p>
            <a:endParaRPr lang="en-IN" sz="2400" dirty="0"/>
          </a:p>
        </p:txBody>
      </p:sp>
      <p:pic>
        <p:nvPicPr>
          <p:cNvPr id="6" name="Content Placeholder 5">
            <a:extLst>
              <a:ext uri="{FF2B5EF4-FFF2-40B4-BE49-F238E27FC236}">
                <a16:creationId xmlns:a16="http://schemas.microsoft.com/office/drawing/2014/main" id="{75A6AD8D-AD30-7E03-A911-E4A9E37E0A0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61964" y="1052736"/>
            <a:ext cx="8424936" cy="5588000"/>
          </a:xfrm>
          <a:prstGeom prst="rect">
            <a:avLst/>
          </a:prstGeom>
          <a:noFill/>
          <a:ln>
            <a:noFill/>
          </a:ln>
        </p:spPr>
      </p:pic>
    </p:spTree>
    <p:extLst>
      <p:ext uri="{BB962C8B-B14F-4D97-AF65-F5344CB8AC3E}">
        <p14:creationId xmlns:p14="http://schemas.microsoft.com/office/powerpoint/2010/main" val="3914607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23B5C-56EE-E1B9-7ED4-CA12B14BF97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9E978A9-F000-941C-60F6-EC1EFD31D882}"/>
              </a:ext>
            </a:extLst>
          </p:cNvPr>
          <p:cNvSpPr>
            <a:spLocks noGrp="1"/>
          </p:cNvSpPr>
          <p:nvPr>
            <p:ph type="body" sz="half" idx="2"/>
          </p:nvPr>
        </p:nvSpPr>
        <p:spPr>
          <a:xfrm>
            <a:off x="1197868" y="404664"/>
            <a:ext cx="3960440" cy="648072"/>
          </a:xfrm>
        </p:spPr>
        <p:txBody>
          <a:bodyPr>
            <a:normAutofit/>
          </a:bodyPr>
          <a:lstStyle/>
          <a:p>
            <a:r>
              <a:rPr lang="en-US" sz="2400" b="1" dirty="0"/>
              <a:t>5.4 Sequential Diagram:</a:t>
            </a:r>
            <a:endParaRPr lang="en-IN" sz="2400" dirty="0"/>
          </a:p>
        </p:txBody>
      </p:sp>
      <p:pic>
        <p:nvPicPr>
          <p:cNvPr id="5" name="Content Placeholder 4">
            <a:extLst>
              <a:ext uri="{FF2B5EF4-FFF2-40B4-BE49-F238E27FC236}">
                <a16:creationId xmlns:a16="http://schemas.microsoft.com/office/drawing/2014/main" id="{33AC155F-B4BE-4214-86EC-CB14A654114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45940" y="883905"/>
            <a:ext cx="8640960" cy="5588000"/>
          </a:xfrm>
          <a:prstGeom prst="rect">
            <a:avLst/>
          </a:prstGeom>
          <a:noFill/>
          <a:ln>
            <a:noFill/>
          </a:ln>
        </p:spPr>
      </p:pic>
    </p:spTree>
    <p:extLst>
      <p:ext uri="{BB962C8B-B14F-4D97-AF65-F5344CB8AC3E}">
        <p14:creationId xmlns:p14="http://schemas.microsoft.com/office/powerpoint/2010/main" val="311497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DF332-56B7-FA2C-AB85-49F2EAE666D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946EAD9-A8AF-699F-A9C2-D7AC09F7B043}"/>
              </a:ext>
            </a:extLst>
          </p:cNvPr>
          <p:cNvSpPr>
            <a:spLocks noGrp="1"/>
          </p:cNvSpPr>
          <p:nvPr>
            <p:ph type="body" sz="half" idx="2"/>
          </p:nvPr>
        </p:nvSpPr>
        <p:spPr>
          <a:xfrm>
            <a:off x="1197868" y="404664"/>
            <a:ext cx="3960440" cy="648072"/>
          </a:xfrm>
        </p:spPr>
        <p:txBody>
          <a:bodyPr>
            <a:normAutofit/>
          </a:bodyPr>
          <a:lstStyle/>
          <a:p>
            <a:r>
              <a:rPr lang="en-US" sz="2400" b="1" dirty="0"/>
              <a:t>5.5 Class Diagram:</a:t>
            </a:r>
            <a:endParaRPr lang="en-IN" sz="2400" dirty="0"/>
          </a:p>
        </p:txBody>
      </p:sp>
      <p:pic>
        <p:nvPicPr>
          <p:cNvPr id="6" name="Content Placeholder 5">
            <a:extLst>
              <a:ext uri="{FF2B5EF4-FFF2-40B4-BE49-F238E27FC236}">
                <a16:creationId xmlns:a16="http://schemas.microsoft.com/office/drawing/2014/main" id="{CD793E5E-8DDD-7A62-7416-4E67C8B73FA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5980" y="908720"/>
            <a:ext cx="8208912" cy="5588000"/>
          </a:xfrm>
          <a:prstGeom prst="rect">
            <a:avLst/>
          </a:prstGeom>
          <a:noFill/>
          <a:ln>
            <a:noFill/>
          </a:ln>
        </p:spPr>
      </p:pic>
    </p:spTree>
    <p:extLst>
      <p:ext uri="{BB962C8B-B14F-4D97-AF65-F5344CB8AC3E}">
        <p14:creationId xmlns:p14="http://schemas.microsoft.com/office/powerpoint/2010/main" val="373378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5C7E0-3F62-1D1A-E9CB-5FE7E2AD884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6B8FBF-4726-5F6E-ABC8-50246F84A8D3}"/>
              </a:ext>
            </a:extLst>
          </p:cNvPr>
          <p:cNvSpPr>
            <a:spLocks noGrp="1"/>
          </p:cNvSpPr>
          <p:nvPr>
            <p:ph type="body" sz="half" idx="2"/>
          </p:nvPr>
        </p:nvSpPr>
        <p:spPr>
          <a:xfrm>
            <a:off x="1197868" y="404664"/>
            <a:ext cx="3960440" cy="648072"/>
          </a:xfrm>
        </p:spPr>
        <p:txBody>
          <a:bodyPr>
            <a:normAutofit/>
          </a:bodyPr>
          <a:lstStyle/>
          <a:p>
            <a:r>
              <a:rPr lang="en-US" sz="2400" b="1" dirty="0"/>
              <a:t>5.6 </a:t>
            </a:r>
            <a:r>
              <a:rPr lang="en-IN" sz="2400" b="1" dirty="0"/>
              <a:t>Activity Diagram:</a:t>
            </a:r>
            <a:endParaRPr lang="en-IN" sz="2400" dirty="0"/>
          </a:p>
          <a:p>
            <a:endParaRPr lang="en-IN" sz="2400" dirty="0"/>
          </a:p>
        </p:txBody>
      </p:sp>
      <p:pic>
        <p:nvPicPr>
          <p:cNvPr id="5" name="Content Placeholder 4">
            <a:extLst>
              <a:ext uri="{FF2B5EF4-FFF2-40B4-BE49-F238E27FC236}">
                <a16:creationId xmlns:a16="http://schemas.microsoft.com/office/drawing/2014/main" id="{FB8176F0-7406-5FA9-7E00-925E1A4EDB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46140" y="1079568"/>
            <a:ext cx="4536504" cy="5588000"/>
          </a:xfrm>
          <a:prstGeom prst="rect">
            <a:avLst/>
          </a:prstGeom>
          <a:noFill/>
          <a:ln>
            <a:noFill/>
          </a:ln>
        </p:spPr>
      </p:pic>
    </p:spTree>
    <p:extLst>
      <p:ext uri="{BB962C8B-B14F-4D97-AF65-F5344CB8AC3E}">
        <p14:creationId xmlns:p14="http://schemas.microsoft.com/office/powerpoint/2010/main" val="170170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D6DA-6FF5-4AEF-8BAE-86E1CF93407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B64B834-40C9-2024-29EE-9BFBAE04AF82}"/>
              </a:ext>
            </a:extLst>
          </p:cNvPr>
          <p:cNvSpPr>
            <a:spLocks noGrp="1"/>
          </p:cNvSpPr>
          <p:nvPr>
            <p:ph type="body" sz="half" idx="2"/>
          </p:nvPr>
        </p:nvSpPr>
        <p:spPr>
          <a:xfrm>
            <a:off x="909836" y="404664"/>
            <a:ext cx="3960440" cy="936104"/>
          </a:xfrm>
        </p:spPr>
        <p:txBody>
          <a:bodyPr>
            <a:noAutofit/>
          </a:bodyPr>
          <a:lstStyle/>
          <a:p>
            <a:r>
              <a:rPr lang="en-US" b="1" dirty="0"/>
              <a:t>5.7 </a:t>
            </a:r>
            <a:r>
              <a:rPr lang="en-IN" b="1" dirty="0"/>
              <a:t>Database Design:</a:t>
            </a:r>
            <a:endParaRPr lang="en-IN" dirty="0"/>
          </a:p>
          <a:p>
            <a:r>
              <a:rPr lang="en-US" b="1" dirty="0"/>
              <a:t>Figure 5.7.1 Categories</a:t>
            </a:r>
            <a:endParaRPr lang="en-IN" b="1" dirty="0"/>
          </a:p>
          <a:p>
            <a:endParaRPr lang="en-IN" sz="1600" dirty="0"/>
          </a:p>
          <a:p>
            <a:endParaRPr lang="en-IN" sz="1600" dirty="0"/>
          </a:p>
        </p:txBody>
      </p:sp>
      <p:pic>
        <p:nvPicPr>
          <p:cNvPr id="6" name="Content Placeholder 5">
            <a:extLst>
              <a:ext uri="{FF2B5EF4-FFF2-40B4-BE49-F238E27FC236}">
                <a16:creationId xmlns:a16="http://schemas.microsoft.com/office/drawing/2014/main" id="{FC10F466-4D88-24AA-4A01-FEAFB23C30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916" y="1412776"/>
            <a:ext cx="8784976" cy="5112568"/>
          </a:xfrm>
          <a:prstGeom prst="rect">
            <a:avLst/>
          </a:prstGeom>
        </p:spPr>
      </p:pic>
    </p:spTree>
    <p:extLst>
      <p:ext uri="{BB962C8B-B14F-4D97-AF65-F5344CB8AC3E}">
        <p14:creationId xmlns:p14="http://schemas.microsoft.com/office/powerpoint/2010/main" val="61271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1577-36FB-91B1-E532-4ECB68B6712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CE81D1-8DA9-A522-B08D-9466110BE057}"/>
              </a:ext>
            </a:extLst>
          </p:cNvPr>
          <p:cNvSpPr>
            <a:spLocks noGrp="1"/>
          </p:cNvSpPr>
          <p:nvPr>
            <p:ph type="body" sz="half" idx="2"/>
          </p:nvPr>
        </p:nvSpPr>
        <p:spPr>
          <a:xfrm>
            <a:off x="1197868" y="404664"/>
            <a:ext cx="3960440" cy="576064"/>
          </a:xfrm>
        </p:spPr>
        <p:txBody>
          <a:bodyPr>
            <a:noAutofit/>
          </a:bodyPr>
          <a:lstStyle/>
          <a:p>
            <a:r>
              <a:rPr lang="en-US" b="1" dirty="0"/>
              <a:t>Figure 5.7.2 Customers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1E477E5D-E3EA-E0EE-5B94-69FF8384E0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916" y="1052736"/>
            <a:ext cx="9073008" cy="5256584"/>
          </a:xfrm>
          <a:prstGeom prst="rect">
            <a:avLst/>
          </a:prstGeom>
        </p:spPr>
      </p:pic>
    </p:spTree>
    <p:extLst>
      <p:ext uri="{BB962C8B-B14F-4D97-AF65-F5344CB8AC3E}">
        <p14:creationId xmlns:p14="http://schemas.microsoft.com/office/powerpoint/2010/main" val="102114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905B4-B64A-33BC-7D61-05BFA2A7F68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BDB5DB1-C78F-DDF2-FF15-A1C546C2CD83}"/>
              </a:ext>
            </a:extLst>
          </p:cNvPr>
          <p:cNvSpPr>
            <a:spLocks noGrp="1"/>
          </p:cNvSpPr>
          <p:nvPr>
            <p:ph type="body" sz="half" idx="2"/>
          </p:nvPr>
        </p:nvSpPr>
        <p:spPr>
          <a:xfrm>
            <a:off x="1197868" y="404664"/>
            <a:ext cx="3960440" cy="504056"/>
          </a:xfrm>
        </p:spPr>
        <p:txBody>
          <a:bodyPr>
            <a:noAutofit/>
          </a:bodyPr>
          <a:lstStyle/>
          <a:p>
            <a:r>
              <a:rPr lang="en-US" b="1" dirty="0"/>
              <a:t>Figure 5.7.3 Notifications</a:t>
            </a:r>
            <a:endParaRPr lang="en-IN" b="1" dirty="0"/>
          </a:p>
          <a:p>
            <a:endParaRPr lang="en-IN" dirty="0"/>
          </a:p>
          <a:p>
            <a:endParaRPr lang="en-IN" dirty="0"/>
          </a:p>
        </p:txBody>
      </p:sp>
      <p:pic>
        <p:nvPicPr>
          <p:cNvPr id="6" name="Content Placeholder 5">
            <a:extLst>
              <a:ext uri="{FF2B5EF4-FFF2-40B4-BE49-F238E27FC236}">
                <a16:creationId xmlns:a16="http://schemas.microsoft.com/office/drawing/2014/main" id="{C86E5F3D-642A-193A-184B-A6592F6761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900" y="908720"/>
            <a:ext cx="9145016" cy="5472608"/>
          </a:xfrm>
          <a:prstGeom prst="rect">
            <a:avLst/>
          </a:prstGeom>
        </p:spPr>
      </p:pic>
    </p:spTree>
    <p:extLst>
      <p:ext uri="{BB962C8B-B14F-4D97-AF65-F5344CB8AC3E}">
        <p14:creationId xmlns:p14="http://schemas.microsoft.com/office/powerpoint/2010/main" val="297101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1B84-1E0D-CD0B-D9DD-68462B3451D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CC10437-0D0D-C97B-BF8C-B31C83313366}"/>
              </a:ext>
            </a:extLst>
          </p:cNvPr>
          <p:cNvSpPr>
            <a:spLocks noGrp="1"/>
          </p:cNvSpPr>
          <p:nvPr>
            <p:ph type="body" sz="half" idx="2"/>
          </p:nvPr>
        </p:nvSpPr>
        <p:spPr>
          <a:xfrm>
            <a:off x="1197868" y="404664"/>
            <a:ext cx="3960440" cy="504056"/>
          </a:xfrm>
        </p:spPr>
        <p:txBody>
          <a:bodyPr>
            <a:noAutofit/>
          </a:bodyPr>
          <a:lstStyle/>
          <a:p>
            <a:r>
              <a:rPr lang="en-US" b="1" dirty="0"/>
              <a:t>Figure 2.7.4 Products</a:t>
            </a:r>
            <a:endParaRPr lang="en-IN" b="1" dirty="0"/>
          </a:p>
          <a:p>
            <a:endParaRPr lang="en-IN" dirty="0"/>
          </a:p>
          <a:p>
            <a:endParaRPr lang="en-IN" dirty="0"/>
          </a:p>
        </p:txBody>
      </p:sp>
      <p:pic>
        <p:nvPicPr>
          <p:cNvPr id="6" name="Content Placeholder 5">
            <a:extLst>
              <a:ext uri="{FF2B5EF4-FFF2-40B4-BE49-F238E27FC236}">
                <a16:creationId xmlns:a16="http://schemas.microsoft.com/office/drawing/2014/main" id="{856BC25B-7B10-4249-2547-7951790598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876" y="1124744"/>
            <a:ext cx="9505056" cy="4968552"/>
          </a:xfrm>
          <a:prstGeom prst="rect">
            <a:avLst/>
          </a:prstGeom>
        </p:spPr>
      </p:pic>
    </p:spTree>
    <p:extLst>
      <p:ext uri="{BB962C8B-B14F-4D97-AF65-F5344CB8AC3E}">
        <p14:creationId xmlns:p14="http://schemas.microsoft.com/office/powerpoint/2010/main" val="269626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9D96-C819-08B5-B66A-81CDE4D9914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14F88A3-A079-139D-8C82-0A4355FB5C70}"/>
              </a:ext>
            </a:extLst>
          </p:cNvPr>
          <p:cNvSpPr>
            <a:spLocks noGrp="1"/>
          </p:cNvSpPr>
          <p:nvPr>
            <p:ph type="body" sz="half" idx="2"/>
          </p:nvPr>
        </p:nvSpPr>
        <p:spPr>
          <a:xfrm>
            <a:off x="1197868" y="404664"/>
            <a:ext cx="3960440" cy="504056"/>
          </a:xfrm>
        </p:spPr>
        <p:txBody>
          <a:bodyPr>
            <a:noAutofit/>
          </a:bodyPr>
          <a:lstStyle/>
          <a:p>
            <a:r>
              <a:rPr lang="en-US" b="1" dirty="0"/>
              <a:t>Figure 5.7.5 Purchases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246A3345-D99A-8C56-56DC-DFD4E6931A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900" y="1052736"/>
            <a:ext cx="8928992" cy="5256584"/>
          </a:xfrm>
          <a:prstGeom prst="rect">
            <a:avLst/>
          </a:prstGeom>
        </p:spPr>
      </p:pic>
    </p:spTree>
    <p:extLst>
      <p:ext uri="{BB962C8B-B14F-4D97-AF65-F5344CB8AC3E}">
        <p14:creationId xmlns:p14="http://schemas.microsoft.com/office/powerpoint/2010/main" val="287330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F1A3-7FA6-CE19-4583-33CE421E0A0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113F50B-3C26-3A93-FCFD-1F90D3647398}"/>
              </a:ext>
            </a:extLst>
          </p:cNvPr>
          <p:cNvSpPr>
            <a:spLocks noGrp="1"/>
          </p:cNvSpPr>
          <p:nvPr>
            <p:ph type="body" sz="half" idx="2"/>
          </p:nvPr>
        </p:nvSpPr>
        <p:spPr>
          <a:xfrm>
            <a:off x="1197868" y="404664"/>
            <a:ext cx="3960440" cy="504056"/>
          </a:xfrm>
        </p:spPr>
        <p:txBody>
          <a:bodyPr>
            <a:noAutofit/>
          </a:bodyPr>
          <a:lstStyle/>
          <a:p>
            <a:r>
              <a:rPr lang="en-US" b="1" dirty="0"/>
              <a:t>Figure 5.7.6 Sales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74C8DD68-14FE-3076-1528-EED691C445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908720"/>
            <a:ext cx="9361040" cy="5256584"/>
          </a:xfrm>
          <a:prstGeom prst="rect">
            <a:avLst/>
          </a:prstGeom>
        </p:spPr>
      </p:pic>
    </p:spTree>
    <p:extLst>
      <p:ext uri="{BB962C8B-B14F-4D97-AF65-F5344CB8AC3E}">
        <p14:creationId xmlns:p14="http://schemas.microsoft.com/office/powerpoint/2010/main" val="5918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37749-E598-E537-3B80-F5AEABD4FAC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1C623DE-9D88-6913-EE31-B1E24A5B0D1B}"/>
              </a:ext>
            </a:extLst>
          </p:cNvPr>
          <p:cNvSpPr>
            <a:spLocks noGrp="1"/>
          </p:cNvSpPr>
          <p:nvPr>
            <p:ph type="body" sz="half" idx="2"/>
          </p:nvPr>
        </p:nvSpPr>
        <p:spPr>
          <a:xfrm>
            <a:off x="1197868" y="404664"/>
            <a:ext cx="3960440" cy="504056"/>
          </a:xfrm>
        </p:spPr>
        <p:txBody>
          <a:bodyPr>
            <a:noAutofit/>
          </a:bodyPr>
          <a:lstStyle/>
          <a:p>
            <a:r>
              <a:rPr lang="en-US" b="1" dirty="0"/>
              <a:t>Figure 5.7.7 Settings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F2344D84-B523-A0FA-B954-FCB66155DD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9721080" cy="5400600"/>
          </a:xfrm>
          <a:prstGeom prst="rect">
            <a:avLst/>
          </a:prstGeom>
        </p:spPr>
      </p:pic>
    </p:spTree>
    <p:extLst>
      <p:ext uri="{BB962C8B-B14F-4D97-AF65-F5344CB8AC3E}">
        <p14:creationId xmlns:p14="http://schemas.microsoft.com/office/powerpoint/2010/main" val="143313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EEBA-DFBB-27CB-A66B-9F1B7E97142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FD21D5A-E9B8-CC25-876D-BD596E52104D}"/>
              </a:ext>
            </a:extLst>
          </p:cNvPr>
          <p:cNvSpPr>
            <a:spLocks noGrp="1"/>
          </p:cNvSpPr>
          <p:nvPr>
            <p:ph type="body" sz="half" idx="2"/>
          </p:nvPr>
        </p:nvSpPr>
        <p:spPr>
          <a:xfrm>
            <a:off x="1197868" y="404664"/>
            <a:ext cx="3960440" cy="504056"/>
          </a:xfrm>
        </p:spPr>
        <p:txBody>
          <a:bodyPr>
            <a:noAutofit/>
          </a:bodyPr>
          <a:lstStyle/>
          <a:p>
            <a:r>
              <a:rPr lang="en-US" b="1" dirty="0"/>
              <a:t>Figure 5.7.8 </a:t>
            </a:r>
            <a:r>
              <a:rPr lang="en-US" b="1" dirty="0" err="1"/>
              <a:t>Stockhistories</a:t>
            </a:r>
            <a:endParaRPr lang="en-IN" b="1" dirty="0"/>
          </a:p>
          <a:p>
            <a:endParaRPr lang="en-IN" dirty="0"/>
          </a:p>
          <a:p>
            <a:endParaRPr lang="en-IN" dirty="0"/>
          </a:p>
        </p:txBody>
      </p:sp>
      <p:pic>
        <p:nvPicPr>
          <p:cNvPr id="7" name="Content Placeholder 6">
            <a:extLst>
              <a:ext uri="{FF2B5EF4-FFF2-40B4-BE49-F238E27FC236}">
                <a16:creationId xmlns:a16="http://schemas.microsoft.com/office/drawing/2014/main" id="{8117ED4A-8B85-0950-1756-33E45936BF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9793089" cy="5328592"/>
          </a:xfrm>
          <a:prstGeom prst="rect">
            <a:avLst/>
          </a:prstGeom>
        </p:spPr>
      </p:pic>
    </p:spTree>
    <p:extLst>
      <p:ext uri="{BB962C8B-B14F-4D97-AF65-F5344CB8AC3E}">
        <p14:creationId xmlns:p14="http://schemas.microsoft.com/office/powerpoint/2010/main" val="234620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D8A90-EB9F-49E6-9B24-269254F44B3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8008122-27A3-4071-4716-D1A49229C4B8}"/>
              </a:ext>
            </a:extLst>
          </p:cNvPr>
          <p:cNvSpPr>
            <a:spLocks noGrp="1"/>
          </p:cNvSpPr>
          <p:nvPr>
            <p:ph type="body" sz="half" idx="2"/>
          </p:nvPr>
        </p:nvSpPr>
        <p:spPr>
          <a:xfrm>
            <a:off x="1197868" y="404664"/>
            <a:ext cx="3960440" cy="504056"/>
          </a:xfrm>
        </p:spPr>
        <p:txBody>
          <a:bodyPr>
            <a:noAutofit/>
          </a:bodyPr>
          <a:lstStyle/>
          <a:p>
            <a:r>
              <a:rPr lang="en-US" b="1" dirty="0"/>
              <a:t>Figure 5.7.9 Suppliers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B6DEB019-B93C-AA5D-4189-4D41A36332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124744"/>
            <a:ext cx="9865096" cy="5184576"/>
          </a:xfrm>
          <a:prstGeom prst="rect">
            <a:avLst/>
          </a:prstGeom>
        </p:spPr>
      </p:pic>
    </p:spTree>
    <p:extLst>
      <p:ext uri="{BB962C8B-B14F-4D97-AF65-F5344CB8AC3E}">
        <p14:creationId xmlns:p14="http://schemas.microsoft.com/office/powerpoint/2010/main" val="146238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F3F7-ADBB-466C-7884-C2B8E909D78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E296012-8219-D63A-3149-3B93E4CBBC4E}"/>
              </a:ext>
            </a:extLst>
          </p:cNvPr>
          <p:cNvSpPr>
            <a:spLocks noGrp="1"/>
          </p:cNvSpPr>
          <p:nvPr>
            <p:ph type="body" sz="half" idx="2"/>
          </p:nvPr>
        </p:nvSpPr>
        <p:spPr>
          <a:xfrm>
            <a:off x="1197868" y="404664"/>
            <a:ext cx="3960440" cy="504056"/>
          </a:xfrm>
        </p:spPr>
        <p:txBody>
          <a:bodyPr>
            <a:noAutofit/>
          </a:bodyPr>
          <a:lstStyle/>
          <a:p>
            <a:r>
              <a:rPr lang="en-US" b="1" dirty="0"/>
              <a:t>Figure 5.7.10 Users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32ECC2DF-EEC8-B40B-1A25-B0971A49D5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9865096" cy="5544616"/>
          </a:xfrm>
          <a:prstGeom prst="rect">
            <a:avLst/>
          </a:prstGeom>
        </p:spPr>
      </p:pic>
    </p:spTree>
    <p:extLst>
      <p:ext uri="{BB962C8B-B14F-4D97-AF65-F5344CB8AC3E}">
        <p14:creationId xmlns:p14="http://schemas.microsoft.com/office/powerpoint/2010/main" val="69441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7E55-D303-60CA-BB69-B848EF8B410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50DEDD-48CB-A02F-D328-A808A4BFEE2B}"/>
              </a:ext>
            </a:extLst>
          </p:cNvPr>
          <p:cNvSpPr>
            <a:spLocks noGrp="1"/>
          </p:cNvSpPr>
          <p:nvPr>
            <p:ph type="body" sz="half" idx="2"/>
          </p:nvPr>
        </p:nvSpPr>
        <p:spPr>
          <a:xfrm>
            <a:off x="837828" y="404664"/>
            <a:ext cx="4032448" cy="936104"/>
          </a:xfrm>
        </p:spPr>
        <p:txBody>
          <a:bodyPr>
            <a:noAutofit/>
          </a:bodyPr>
          <a:lstStyle/>
          <a:p>
            <a:r>
              <a:rPr lang="en-US" b="1" dirty="0"/>
              <a:t>5.8 </a:t>
            </a:r>
            <a:r>
              <a:rPr lang="en-IN" b="1" dirty="0"/>
              <a:t>Menu-Screen Design:</a:t>
            </a:r>
            <a:endParaRPr lang="en-IN" dirty="0"/>
          </a:p>
          <a:p>
            <a:r>
              <a:rPr lang="en-US" b="1" dirty="0"/>
              <a:t>Figure 5.8.1 Login Screen</a:t>
            </a:r>
            <a:endParaRPr lang="en-IN" b="1" dirty="0"/>
          </a:p>
          <a:p>
            <a:endParaRPr lang="en-IN" sz="1600" dirty="0"/>
          </a:p>
          <a:p>
            <a:endParaRPr lang="en-IN" sz="1600" dirty="0"/>
          </a:p>
        </p:txBody>
      </p:sp>
      <p:pic>
        <p:nvPicPr>
          <p:cNvPr id="5" name="Content Placeholder 4">
            <a:extLst>
              <a:ext uri="{FF2B5EF4-FFF2-40B4-BE49-F238E27FC236}">
                <a16:creationId xmlns:a16="http://schemas.microsoft.com/office/drawing/2014/main" id="{4D740F4F-FFDB-0772-7E73-80EF799F21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916" y="1556792"/>
            <a:ext cx="9505056" cy="4752528"/>
          </a:xfrm>
          <a:prstGeom prst="rect">
            <a:avLst/>
          </a:prstGeom>
        </p:spPr>
      </p:pic>
    </p:spTree>
    <p:extLst>
      <p:ext uri="{BB962C8B-B14F-4D97-AF65-F5344CB8AC3E}">
        <p14:creationId xmlns:p14="http://schemas.microsoft.com/office/powerpoint/2010/main" val="3674090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14047-1DE3-B0E2-445F-DA865826B8A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7E7C8C0-F2E4-DBFF-158B-CC5E5E3DDA82}"/>
              </a:ext>
            </a:extLst>
          </p:cNvPr>
          <p:cNvSpPr>
            <a:spLocks noGrp="1"/>
          </p:cNvSpPr>
          <p:nvPr>
            <p:ph type="body" sz="half" idx="2"/>
          </p:nvPr>
        </p:nvSpPr>
        <p:spPr>
          <a:xfrm>
            <a:off x="1197868" y="404664"/>
            <a:ext cx="3960440" cy="504056"/>
          </a:xfrm>
        </p:spPr>
        <p:txBody>
          <a:bodyPr>
            <a:noAutofit/>
          </a:bodyPr>
          <a:lstStyle/>
          <a:p>
            <a:r>
              <a:rPr lang="en-US" b="1" dirty="0"/>
              <a:t>Figure 5.8.2 Register Screen</a:t>
            </a:r>
            <a:endParaRPr lang="en-IN" b="1" dirty="0"/>
          </a:p>
        </p:txBody>
      </p:sp>
      <p:pic>
        <p:nvPicPr>
          <p:cNvPr id="6" name="Content Placeholder 5">
            <a:extLst>
              <a:ext uri="{FF2B5EF4-FFF2-40B4-BE49-F238E27FC236}">
                <a16:creationId xmlns:a16="http://schemas.microsoft.com/office/drawing/2014/main" id="{2A749DC7-2B45-3D3D-C881-0C28E6EA0B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908720"/>
            <a:ext cx="9721080" cy="5328592"/>
          </a:xfrm>
          <a:prstGeom prst="rect">
            <a:avLst/>
          </a:prstGeom>
        </p:spPr>
      </p:pic>
    </p:spTree>
    <p:extLst>
      <p:ext uri="{BB962C8B-B14F-4D97-AF65-F5344CB8AC3E}">
        <p14:creationId xmlns:p14="http://schemas.microsoft.com/office/powerpoint/2010/main" val="286747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161FA-B5D7-58A8-2805-B0F28386642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10F9BE-B3C1-105C-EA82-CEB0324BB7F3}"/>
              </a:ext>
            </a:extLst>
          </p:cNvPr>
          <p:cNvSpPr>
            <a:spLocks noGrp="1"/>
          </p:cNvSpPr>
          <p:nvPr>
            <p:ph type="body" sz="half" idx="2"/>
          </p:nvPr>
        </p:nvSpPr>
        <p:spPr>
          <a:xfrm>
            <a:off x="1197868" y="404664"/>
            <a:ext cx="3960440" cy="504056"/>
          </a:xfrm>
        </p:spPr>
        <p:txBody>
          <a:bodyPr>
            <a:noAutofit/>
          </a:bodyPr>
          <a:lstStyle/>
          <a:p>
            <a:r>
              <a:rPr lang="en-US" b="1" dirty="0"/>
              <a:t>Figure 3.8.3 Dashboard Screen</a:t>
            </a:r>
            <a:endParaRPr lang="en-IN" b="1" dirty="0"/>
          </a:p>
        </p:txBody>
      </p:sp>
      <p:pic>
        <p:nvPicPr>
          <p:cNvPr id="5" name="Content Placeholder 4">
            <a:extLst>
              <a:ext uri="{FF2B5EF4-FFF2-40B4-BE49-F238E27FC236}">
                <a16:creationId xmlns:a16="http://schemas.microsoft.com/office/drawing/2014/main" id="{7AACC96A-D97E-7E46-AB94-09D3365592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052736"/>
            <a:ext cx="9937104" cy="5186850"/>
          </a:xfrm>
          <a:prstGeom prst="rect">
            <a:avLst/>
          </a:prstGeom>
        </p:spPr>
      </p:pic>
    </p:spTree>
    <p:extLst>
      <p:ext uri="{BB962C8B-B14F-4D97-AF65-F5344CB8AC3E}">
        <p14:creationId xmlns:p14="http://schemas.microsoft.com/office/powerpoint/2010/main" val="106482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26397-2356-ACD8-C84A-11139BC0EED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FD59358-3B0F-F7D8-3D6E-6C6ADBFE57EF}"/>
              </a:ext>
            </a:extLst>
          </p:cNvPr>
          <p:cNvSpPr>
            <a:spLocks noGrp="1"/>
          </p:cNvSpPr>
          <p:nvPr>
            <p:ph type="body" sz="half" idx="2"/>
          </p:nvPr>
        </p:nvSpPr>
        <p:spPr>
          <a:xfrm>
            <a:off x="1197868" y="404664"/>
            <a:ext cx="3960440" cy="504056"/>
          </a:xfrm>
        </p:spPr>
        <p:txBody>
          <a:bodyPr>
            <a:noAutofit/>
          </a:bodyPr>
          <a:lstStyle/>
          <a:p>
            <a:r>
              <a:rPr lang="en-US" b="1" dirty="0"/>
              <a:t>Figure 5.8.4 Modules</a:t>
            </a:r>
            <a:endParaRPr lang="en-IN" b="1" dirty="0"/>
          </a:p>
        </p:txBody>
      </p:sp>
      <p:pic>
        <p:nvPicPr>
          <p:cNvPr id="2" name="Content Placeholder 1">
            <a:extLst>
              <a:ext uri="{FF2B5EF4-FFF2-40B4-BE49-F238E27FC236}">
                <a16:creationId xmlns:a16="http://schemas.microsoft.com/office/drawing/2014/main" id="{1654CBDA-C415-020C-E3C9-B089160BFC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7003" y="922387"/>
            <a:ext cx="1594818" cy="5588000"/>
          </a:xfrm>
          <a:prstGeom prst="rect">
            <a:avLst/>
          </a:prstGeom>
        </p:spPr>
      </p:pic>
    </p:spTree>
    <p:extLst>
      <p:ext uri="{BB962C8B-B14F-4D97-AF65-F5344CB8AC3E}">
        <p14:creationId xmlns:p14="http://schemas.microsoft.com/office/powerpoint/2010/main" val="161677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65B6-C551-26EF-969B-BDCAEFDC096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24D8B09-E7EB-C92F-B74B-7C6B78F4B84C}"/>
              </a:ext>
            </a:extLst>
          </p:cNvPr>
          <p:cNvSpPr>
            <a:spLocks noGrp="1"/>
          </p:cNvSpPr>
          <p:nvPr>
            <p:ph type="body" sz="half" idx="2"/>
          </p:nvPr>
        </p:nvSpPr>
        <p:spPr>
          <a:xfrm>
            <a:off x="1197868" y="404664"/>
            <a:ext cx="3960440" cy="504056"/>
          </a:xfrm>
        </p:spPr>
        <p:txBody>
          <a:bodyPr>
            <a:noAutofit/>
          </a:bodyPr>
          <a:lstStyle/>
          <a:p>
            <a:r>
              <a:rPr lang="en-US" b="1" dirty="0"/>
              <a:t>Figure 5.8.5 Products Screen</a:t>
            </a:r>
            <a:endParaRPr lang="en-IN" b="1" dirty="0"/>
          </a:p>
        </p:txBody>
      </p:sp>
      <p:pic>
        <p:nvPicPr>
          <p:cNvPr id="2" name="Content Placeholder 1">
            <a:extLst>
              <a:ext uri="{FF2B5EF4-FFF2-40B4-BE49-F238E27FC236}">
                <a16:creationId xmlns:a16="http://schemas.microsoft.com/office/drawing/2014/main" id="{B8C370B2-2A24-0558-44CA-D5661C8927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009112" cy="5400600"/>
          </a:xfrm>
          <a:prstGeom prst="rect">
            <a:avLst/>
          </a:prstGeom>
        </p:spPr>
      </p:pic>
    </p:spTree>
    <p:extLst>
      <p:ext uri="{BB962C8B-B14F-4D97-AF65-F5344CB8AC3E}">
        <p14:creationId xmlns:p14="http://schemas.microsoft.com/office/powerpoint/2010/main" val="319082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89532-9672-DF16-075B-97B858905A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4BFD62E-8770-0169-87F3-8FB2A8EE63C3}"/>
              </a:ext>
            </a:extLst>
          </p:cNvPr>
          <p:cNvSpPr>
            <a:spLocks noGrp="1"/>
          </p:cNvSpPr>
          <p:nvPr>
            <p:ph type="body" sz="half" idx="2"/>
          </p:nvPr>
        </p:nvSpPr>
        <p:spPr>
          <a:xfrm>
            <a:off x="1197868" y="404664"/>
            <a:ext cx="3960440" cy="504056"/>
          </a:xfrm>
        </p:spPr>
        <p:txBody>
          <a:bodyPr>
            <a:noAutofit/>
          </a:bodyPr>
          <a:lstStyle/>
          <a:p>
            <a:r>
              <a:rPr lang="en-US" b="1" dirty="0"/>
              <a:t>Figure 5.8.6 Categories</a:t>
            </a:r>
            <a:endParaRPr lang="en-IN" b="1" dirty="0"/>
          </a:p>
        </p:txBody>
      </p:sp>
      <p:pic>
        <p:nvPicPr>
          <p:cNvPr id="2" name="Content Placeholder 1">
            <a:extLst>
              <a:ext uri="{FF2B5EF4-FFF2-40B4-BE49-F238E27FC236}">
                <a16:creationId xmlns:a16="http://schemas.microsoft.com/office/drawing/2014/main" id="{78CC62BB-5814-30DF-351B-8C1D6F408B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052736"/>
            <a:ext cx="10369152" cy="5256584"/>
          </a:xfrm>
          <a:prstGeom prst="rect">
            <a:avLst/>
          </a:prstGeom>
        </p:spPr>
      </p:pic>
    </p:spTree>
    <p:extLst>
      <p:ext uri="{BB962C8B-B14F-4D97-AF65-F5344CB8AC3E}">
        <p14:creationId xmlns:p14="http://schemas.microsoft.com/office/powerpoint/2010/main" val="91648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0B09-BD45-787F-E395-CA511289044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9E1533C-8AF3-BEDF-EF9B-92476736281D}"/>
              </a:ext>
            </a:extLst>
          </p:cNvPr>
          <p:cNvSpPr>
            <a:spLocks noGrp="1"/>
          </p:cNvSpPr>
          <p:nvPr>
            <p:ph type="body" sz="half" idx="2"/>
          </p:nvPr>
        </p:nvSpPr>
        <p:spPr>
          <a:xfrm>
            <a:off x="1197868" y="404664"/>
            <a:ext cx="3960440" cy="504056"/>
          </a:xfrm>
        </p:spPr>
        <p:txBody>
          <a:bodyPr>
            <a:noAutofit/>
          </a:bodyPr>
          <a:lstStyle/>
          <a:p>
            <a:r>
              <a:rPr lang="en-US" b="1" dirty="0"/>
              <a:t>Figure 5.8.7 Inventory Screen</a:t>
            </a:r>
            <a:endParaRPr lang="en-IN" b="1" dirty="0"/>
          </a:p>
        </p:txBody>
      </p:sp>
      <p:pic>
        <p:nvPicPr>
          <p:cNvPr id="2" name="Content Placeholder 1">
            <a:extLst>
              <a:ext uri="{FF2B5EF4-FFF2-40B4-BE49-F238E27FC236}">
                <a16:creationId xmlns:a16="http://schemas.microsoft.com/office/drawing/2014/main" id="{140FCFF7-08A4-566D-564D-5DF09F9EE4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153128" cy="5328592"/>
          </a:xfrm>
          <a:prstGeom prst="rect">
            <a:avLst/>
          </a:prstGeom>
        </p:spPr>
      </p:pic>
    </p:spTree>
    <p:extLst>
      <p:ext uri="{BB962C8B-B14F-4D97-AF65-F5344CB8AC3E}">
        <p14:creationId xmlns:p14="http://schemas.microsoft.com/office/powerpoint/2010/main" val="2125679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0E68-0EEC-7494-D841-7E577954F03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AC81B14-2E43-5950-C934-396C63180461}"/>
              </a:ext>
            </a:extLst>
          </p:cNvPr>
          <p:cNvSpPr>
            <a:spLocks noGrp="1"/>
          </p:cNvSpPr>
          <p:nvPr>
            <p:ph type="body" sz="half" idx="2"/>
          </p:nvPr>
        </p:nvSpPr>
        <p:spPr>
          <a:xfrm>
            <a:off x="1197868" y="404664"/>
            <a:ext cx="3960440" cy="504056"/>
          </a:xfrm>
        </p:spPr>
        <p:txBody>
          <a:bodyPr>
            <a:noAutofit/>
          </a:bodyPr>
          <a:lstStyle/>
          <a:p>
            <a:r>
              <a:rPr lang="en-US" b="1" dirty="0"/>
              <a:t>Figure 5.8.8 Purchases Screen</a:t>
            </a:r>
            <a:endParaRPr lang="en-IN" b="1" dirty="0"/>
          </a:p>
        </p:txBody>
      </p:sp>
      <p:pic>
        <p:nvPicPr>
          <p:cNvPr id="2" name="Content Placeholder 1">
            <a:extLst>
              <a:ext uri="{FF2B5EF4-FFF2-40B4-BE49-F238E27FC236}">
                <a16:creationId xmlns:a16="http://schemas.microsoft.com/office/drawing/2014/main" id="{C06785E2-6BD4-0C93-248D-DCA991C234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1884" y="908720"/>
            <a:ext cx="9865096" cy="5328592"/>
          </a:xfrm>
          <a:prstGeom prst="rect">
            <a:avLst/>
          </a:prstGeom>
        </p:spPr>
      </p:pic>
    </p:spTree>
    <p:extLst>
      <p:ext uri="{BB962C8B-B14F-4D97-AF65-F5344CB8AC3E}">
        <p14:creationId xmlns:p14="http://schemas.microsoft.com/office/powerpoint/2010/main" val="26105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5168-D15C-04D7-DA06-456CC6D6AEA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C034BA0-3205-35A1-4553-143FCBA64B5C}"/>
              </a:ext>
            </a:extLst>
          </p:cNvPr>
          <p:cNvSpPr>
            <a:spLocks noGrp="1"/>
          </p:cNvSpPr>
          <p:nvPr>
            <p:ph type="body" sz="half" idx="2"/>
          </p:nvPr>
        </p:nvSpPr>
        <p:spPr>
          <a:xfrm>
            <a:off x="1197868" y="404664"/>
            <a:ext cx="3960440" cy="504056"/>
          </a:xfrm>
        </p:spPr>
        <p:txBody>
          <a:bodyPr>
            <a:noAutofit/>
          </a:bodyPr>
          <a:lstStyle/>
          <a:p>
            <a:r>
              <a:rPr lang="en-US" b="1" dirty="0"/>
              <a:t>Figure 5.8.9 Sales Screen</a:t>
            </a:r>
            <a:endParaRPr lang="en-IN" b="1" dirty="0"/>
          </a:p>
        </p:txBody>
      </p:sp>
      <p:pic>
        <p:nvPicPr>
          <p:cNvPr id="2" name="Content Placeholder 1">
            <a:extLst>
              <a:ext uri="{FF2B5EF4-FFF2-40B4-BE49-F238E27FC236}">
                <a16:creationId xmlns:a16="http://schemas.microsoft.com/office/drawing/2014/main" id="{4A42B35C-F02D-F530-6DDA-B87F644575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225136" cy="5328592"/>
          </a:xfrm>
          <a:prstGeom prst="rect">
            <a:avLst/>
          </a:prstGeom>
        </p:spPr>
      </p:pic>
    </p:spTree>
    <p:extLst>
      <p:ext uri="{BB962C8B-B14F-4D97-AF65-F5344CB8AC3E}">
        <p14:creationId xmlns:p14="http://schemas.microsoft.com/office/powerpoint/2010/main" val="14733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75A5-047A-40FD-AA96-DCE56ADC3CE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D56654E-A1A0-13FA-4959-9741D0719BED}"/>
              </a:ext>
            </a:extLst>
          </p:cNvPr>
          <p:cNvSpPr>
            <a:spLocks noGrp="1"/>
          </p:cNvSpPr>
          <p:nvPr>
            <p:ph type="body" sz="half" idx="2"/>
          </p:nvPr>
        </p:nvSpPr>
        <p:spPr>
          <a:xfrm>
            <a:off x="1197868" y="404664"/>
            <a:ext cx="3960440" cy="504056"/>
          </a:xfrm>
        </p:spPr>
        <p:txBody>
          <a:bodyPr>
            <a:noAutofit/>
          </a:bodyPr>
          <a:lstStyle/>
          <a:p>
            <a:r>
              <a:rPr lang="en-US" b="1" dirty="0"/>
              <a:t>Figure 5.8.10 Suppliers Screen</a:t>
            </a:r>
            <a:endParaRPr lang="en-IN" b="1" dirty="0"/>
          </a:p>
        </p:txBody>
      </p:sp>
      <p:pic>
        <p:nvPicPr>
          <p:cNvPr id="2" name="Content Placeholder 1">
            <a:extLst>
              <a:ext uri="{FF2B5EF4-FFF2-40B4-BE49-F238E27FC236}">
                <a16:creationId xmlns:a16="http://schemas.microsoft.com/office/drawing/2014/main" id="{11FC4275-1AE4-E78B-9AB4-DA580F09E4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297144" cy="5400600"/>
          </a:xfrm>
          <a:prstGeom prst="rect">
            <a:avLst/>
          </a:prstGeom>
        </p:spPr>
      </p:pic>
    </p:spTree>
    <p:extLst>
      <p:ext uri="{BB962C8B-B14F-4D97-AF65-F5344CB8AC3E}">
        <p14:creationId xmlns:p14="http://schemas.microsoft.com/office/powerpoint/2010/main" val="11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2446-720B-3DFE-F8BE-2B4B492DE5E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5BD7E04-28C9-234E-5806-5D253615CC81}"/>
              </a:ext>
            </a:extLst>
          </p:cNvPr>
          <p:cNvSpPr>
            <a:spLocks noGrp="1"/>
          </p:cNvSpPr>
          <p:nvPr>
            <p:ph type="body" sz="half" idx="2"/>
          </p:nvPr>
        </p:nvSpPr>
        <p:spPr>
          <a:xfrm>
            <a:off x="1197868" y="404664"/>
            <a:ext cx="3960440" cy="504056"/>
          </a:xfrm>
        </p:spPr>
        <p:txBody>
          <a:bodyPr>
            <a:noAutofit/>
          </a:bodyPr>
          <a:lstStyle/>
          <a:p>
            <a:r>
              <a:rPr lang="en-US" b="1" dirty="0"/>
              <a:t>Figure 5.8.11 Customers Screen</a:t>
            </a:r>
            <a:endParaRPr lang="en-IN" b="1" dirty="0"/>
          </a:p>
        </p:txBody>
      </p:sp>
      <p:pic>
        <p:nvPicPr>
          <p:cNvPr id="2" name="Content Placeholder 1">
            <a:extLst>
              <a:ext uri="{FF2B5EF4-FFF2-40B4-BE49-F238E27FC236}">
                <a16:creationId xmlns:a16="http://schemas.microsoft.com/office/drawing/2014/main" id="{28425541-B142-AA61-DA16-2ED6754436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369152" cy="5112568"/>
          </a:xfrm>
          <a:prstGeom prst="rect">
            <a:avLst/>
          </a:prstGeom>
        </p:spPr>
      </p:pic>
    </p:spTree>
    <p:extLst>
      <p:ext uri="{BB962C8B-B14F-4D97-AF65-F5344CB8AC3E}">
        <p14:creationId xmlns:p14="http://schemas.microsoft.com/office/powerpoint/2010/main" val="193410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51CF-981B-B9D3-790C-6034B7065E9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0E3A50B-3223-C314-211F-FC797EB524A1}"/>
              </a:ext>
            </a:extLst>
          </p:cNvPr>
          <p:cNvSpPr>
            <a:spLocks noGrp="1"/>
          </p:cNvSpPr>
          <p:nvPr>
            <p:ph type="body" sz="half" idx="2"/>
          </p:nvPr>
        </p:nvSpPr>
        <p:spPr>
          <a:xfrm>
            <a:off x="1197868" y="404664"/>
            <a:ext cx="3960440" cy="504056"/>
          </a:xfrm>
        </p:spPr>
        <p:txBody>
          <a:bodyPr>
            <a:noAutofit/>
          </a:bodyPr>
          <a:lstStyle/>
          <a:p>
            <a:r>
              <a:rPr lang="en-US" b="1" dirty="0"/>
              <a:t>Figure 5.8.12 Report Screen</a:t>
            </a:r>
            <a:endParaRPr lang="en-IN" b="1" dirty="0"/>
          </a:p>
        </p:txBody>
      </p:sp>
      <p:pic>
        <p:nvPicPr>
          <p:cNvPr id="2" name="Content Placeholder 1">
            <a:extLst>
              <a:ext uri="{FF2B5EF4-FFF2-40B4-BE49-F238E27FC236}">
                <a16:creationId xmlns:a16="http://schemas.microsoft.com/office/drawing/2014/main" id="{7AF7B921-C71E-F36D-78F1-282E9AC899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80728"/>
            <a:ext cx="10441160" cy="5256584"/>
          </a:xfrm>
          <a:prstGeom prst="rect">
            <a:avLst/>
          </a:prstGeom>
        </p:spPr>
      </p:pic>
    </p:spTree>
    <p:extLst>
      <p:ext uri="{BB962C8B-B14F-4D97-AF65-F5344CB8AC3E}">
        <p14:creationId xmlns:p14="http://schemas.microsoft.com/office/powerpoint/2010/main" val="164530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0F85-4953-FF87-F503-5CE2D3EA15F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11136AD-D6FD-E43C-A139-2A91405010FB}"/>
              </a:ext>
            </a:extLst>
          </p:cNvPr>
          <p:cNvSpPr>
            <a:spLocks noGrp="1"/>
          </p:cNvSpPr>
          <p:nvPr>
            <p:ph type="body" sz="half" idx="2"/>
          </p:nvPr>
        </p:nvSpPr>
        <p:spPr>
          <a:xfrm>
            <a:off x="1197868" y="404664"/>
            <a:ext cx="3960440" cy="504056"/>
          </a:xfrm>
        </p:spPr>
        <p:txBody>
          <a:bodyPr>
            <a:noAutofit/>
          </a:bodyPr>
          <a:lstStyle/>
          <a:p>
            <a:r>
              <a:rPr lang="en-US" b="1" dirty="0"/>
              <a:t>Figure 5.8.13 Report Screen</a:t>
            </a:r>
            <a:endParaRPr lang="en-IN" b="1" dirty="0"/>
          </a:p>
        </p:txBody>
      </p:sp>
      <p:pic>
        <p:nvPicPr>
          <p:cNvPr id="2" name="Content Placeholder 1">
            <a:extLst>
              <a:ext uri="{FF2B5EF4-FFF2-40B4-BE49-F238E27FC236}">
                <a16:creationId xmlns:a16="http://schemas.microsoft.com/office/drawing/2014/main" id="{A7873119-72D4-F609-F8AB-597944343C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297144" cy="5184576"/>
          </a:xfrm>
          <a:prstGeom prst="rect">
            <a:avLst/>
          </a:prstGeom>
        </p:spPr>
      </p:pic>
    </p:spTree>
    <p:extLst>
      <p:ext uri="{BB962C8B-B14F-4D97-AF65-F5344CB8AC3E}">
        <p14:creationId xmlns:p14="http://schemas.microsoft.com/office/powerpoint/2010/main" val="364590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7A6AA-D87A-A3DE-3B4B-DAD1F07F9D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F5ECD2B-A931-02F7-8B29-D4EF074EB07C}"/>
              </a:ext>
            </a:extLst>
          </p:cNvPr>
          <p:cNvSpPr>
            <a:spLocks noGrp="1"/>
          </p:cNvSpPr>
          <p:nvPr>
            <p:ph type="body" sz="half" idx="2"/>
          </p:nvPr>
        </p:nvSpPr>
        <p:spPr>
          <a:xfrm>
            <a:off x="1197868" y="404664"/>
            <a:ext cx="3960440" cy="504056"/>
          </a:xfrm>
        </p:spPr>
        <p:txBody>
          <a:bodyPr>
            <a:noAutofit/>
          </a:bodyPr>
          <a:lstStyle/>
          <a:p>
            <a:r>
              <a:rPr lang="en-US" b="1" dirty="0"/>
              <a:t>Figure 5.8.14 Report Screen</a:t>
            </a:r>
            <a:endParaRPr lang="en-IN" b="1" dirty="0"/>
          </a:p>
        </p:txBody>
      </p:sp>
      <p:pic>
        <p:nvPicPr>
          <p:cNvPr id="2" name="Content Placeholder 1">
            <a:extLst>
              <a:ext uri="{FF2B5EF4-FFF2-40B4-BE49-F238E27FC236}">
                <a16:creationId xmlns:a16="http://schemas.microsoft.com/office/drawing/2014/main" id="{F5398AC0-CCCF-D94A-BCDD-1A7B2E891D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369152" cy="5328592"/>
          </a:xfrm>
          <a:prstGeom prst="rect">
            <a:avLst/>
          </a:prstGeom>
        </p:spPr>
      </p:pic>
    </p:spTree>
    <p:extLst>
      <p:ext uri="{BB962C8B-B14F-4D97-AF65-F5344CB8AC3E}">
        <p14:creationId xmlns:p14="http://schemas.microsoft.com/office/powerpoint/2010/main" val="258321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12A4-65F6-3537-AE06-37359345DA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3E471E4-E736-4DD7-F002-37ACAA708148}"/>
              </a:ext>
            </a:extLst>
          </p:cNvPr>
          <p:cNvSpPr>
            <a:spLocks noGrp="1"/>
          </p:cNvSpPr>
          <p:nvPr>
            <p:ph type="body" sz="half" idx="2"/>
          </p:nvPr>
        </p:nvSpPr>
        <p:spPr>
          <a:xfrm>
            <a:off x="1197868" y="404664"/>
            <a:ext cx="3960440" cy="504056"/>
          </a:xfrm>
        </p:spPr>
        <p:txBody>
          <a:bodyPr>
            <a:noAutofit/>
          </a:bodyPr>
          <a:lstStyle/>
          <a:p>
            <a:r>
              <a:rPr lang="en-US" b="1" dirty="0"/>
              <a:t>Figure 5.8.15 Reports Screen</a:t>
            </a:r>
            <a:endParaRPr lang="en-IN" b="1" dirty="0"/>
          </a:p>
        </p:txBody>
      </p:sp>
      <p:pic>
        <p:nvPicPr>
          <p:cNvPr id="2" name="Content Placeholder 1">
            <a:extLst>
              <a:ext uri="{FF2B5EF4-FFF2-40B4-BE49-F238E27FC236}">
                <a16:creationId xmlns:a16="http://schemas.microsoft.com/office/drawing/2014/main" id="{97DEDABF-B0DB-BA95-A047-40D9E114BC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124744"/>
            <a:ext cx="10369152" cy="4968552"/>
          </a:xfrm>
          <a:prstGeom prst="rect">
            <a:avLst/>
          </a:prstGeom>
        </p:spPr>
      </p:pic>
    </p:spTree>
    <p:extLst>
      <p:ext uri="{BB962C8B-B14F-4D97-AF65-F5344CB8AC3E}">
        <p14:creationId xmlns:p14="http://schemas.microsoft.com/office/powerpoint/2010/main" val="727546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26C28-AE25-0569-A101-0C7D4FF9E0B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34ECBF6-ACAE-29E6-945D-128E652234D6}"/>
              </a:ext>
            </a:extLst>
          </p:cNvPr>
          <p:cNvSpPr>
            <a:spLocks noGrp="1"/>
          </p:cNvSpPr>
          <p:nvPr>
            <p:ph type="body" sz="half" idx="2"/>
          </p:nvPr>
        </p:nvSpPr>
        <p:spPr>
          <a:xfrm>
            <a:off x="1197868" y="404664"/>
            <a:ext cx="3960440" cy="504056"/>
          </a:xfrm>
        </p:spPr>
        <p:txBody>
          <a:bodyPr>
            <a:noAutofit/>
          </a:bodyPr>
          <a:lstStyle/>
          <a:p>
            <a:r>
              <a:rPr lang="en-US" b="1" dirty="0"/>
              <a:t>Figure 5.8.16 Alert Screen</a:t>
            </a:r>
            <a:endParaRPr lang="en-IN" b="1" dirty="0"/>
          </a:p>
        </p:txBody>
      </p:sp>
      <p:pic>
        <p:nvPicPr>
          <p:cNvPr id="2" name="Content Placeholder 1">
            <a:extLst>
              <a:ext uri="{FF2B5EF4-FFF2-40B4-BE49-F238E27FC236}">
                <a16:creationId xmlns:a16="http://schemas.microsoft.com/office/drawing/2014/main" id="{75DB377F-987C-9160-DC5B-C076E7B30F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908720"/>
            <a:ext cx="10081120" cy="5400600"/>
          </a:xfrm>
          <a:prstGeom prst="rect">
            <a:avLst/>
          </a:prstGeom>
        </p:spPr>
      </p:pic>
    </p:spTree>
    <p:extLst>
      <p:ext uri="{BB962C8B-B14F-4D97-AF65-F5344CB8AC3E}">
        <p14:creationId xmlns:p14="http://schemas.microsoft.com/office/powerpoint/2010/main" val="235936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7C629-183A-4031-982E-82E12320A5B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D1B347C-A0AA-6F4B-2CD5-A72ED2DE831D}"/>
              </a:ext>
            </a:extLst>
          </p:cNvPr>
          <p:cNvSpPr>
            <a:spLocks noGrp="1"/>
          </p:cNvSpPr>
          <p:nvPr>
            <p:ph type="body" sz="half" idx="2"/>
          </p:nvPr>
        </p:nvSpPr>
        <p:spPr>
          <a:xfrm>
            <a:off x="1197868" y="404664"/>
            <a:ext cx="3960440" cy="504056"/>
          </a:xfrm>
        </p:spPr>
        <p:txBody>
          <a:bodyPr>
            <a:noAutofit/>
          </a:bodyPr>
          <a:lstStyle/>
          <a:p>
            <a:r>
              <a:rPr lang="en-US" b="1" dirty="0"/>
              <a:t>Figure 5.8.17 Add Product Screen</a:t>
            </a:r>
            <a:endParaRPr lang="en-IN" b="1" dirty="0"/>
          </a:p>
        </p:txBody>
      </p:sp>
      <p:pic>
        <p:nvPicPr>
          <p:cNvPr id="2" name="Content Placeholder 1">
            <a:extLst>
              <a:ext uri="{FF2B5EF4-FFF2-40B4-BE49-F238E27FC236}">
                <a16:creationId xmlns:a16="http://schemas.microsoft.com/office/drawing/2014/main" id="{7FF625F5-C5CA-1ADD-44FD-B712186D17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80728"/>
            <a:ext cx="10225136" cy="5112568"/>
          </a:xfrm>
          <a:prstGeom prst="rect">
            <a:avLst/>
          </a:prstGeom>
        </p:spPr>
      </p:pic>
    </p:spTree>
    <p:extLst>
      <p:ext uri="{BB962C8B-B14F-4D97-AF65-F5344CB8AC3E}">
        <p14:creationId xmlns:p14="http://schemas.microsoft.com/office/powerpoint/2010/main" val="181543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8DD12-F931-C48E-4D02-311CF528C5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F5796F0-A28A-DCB9-32F9-4919020C5643}"/>
              </a:ext>
            </a:extLst>
          </p:cNvPr>
          <p:cNvSpPr>
            <a:spLocks noGrp="1"/>
          </p:cNvSpPr>
          <p:nvPr>
            <p:ph type="body" sz="half" idx="2"/>
          </p:nvPr>
        </p:nvSpPr>
        <p:spPr>
          <a:xfrm>
            <a:off x="1197868" y="404664"/>
            <a:ext cx="3960440" cy="504056"/>
          </a:xfrm>
        </p:spPr>
        <p:txBody>
          <a:bodyPr>
            <a:noAutofit/>
          </a:bodyPr>
          <a:lstStyle/>
          <a:p>
            <a:r>
              <a:rPr lang="en-US" b="1" dirty="0"/>
              <a:t>Figure 5.8.18 Add Category Screen</a:t>
            </a:r>
            <a:endParaRPr lang="en-IN" b="1" dirty="0"/>
          </a:p>
        </p:txBody>
      </p:sp>
      <p:pic>
        <p:nvPicPr>
          <p:cNvPr id="2" name="Content Placeholder 1">
            <a:extLst>
              <a:ext uri="{FF2B5EF4-FFF2-40B4-BE49-F238E27FC236}">
                <a16:creationId xmlns:a16="http://schemas.microsoft.com/office/drawing/2014/main" id="{B7B70961-A0C3-D9EB-D90A-9CB8A6E5FD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052736"/>
            <a:ext cx="10297144" cy="5184576"/>
          </a:xfrm>
          <a:prstGeom prst="rect">
            <a:avLst/>
          </a:prstGeom>
        </p:spPr>
      </p:pic>
    </p:spTree>
    <p:extLst>
      <p:ext uri="{BB962C8B-B14F-4D97-AF65-F5344CB8AC3E}">
        <p14:creationId xmlns:p14="http://schemas.microsoft.com/office/powerpoint/2010/main" val="14713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40E98-5649-66EB-AA0A-5822932F0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51C4E-0E92-774B-16E3-30683F3E0C5D}"/>
              </a:ext>
            </a:extLst>
          </p:cNvPr>
          <p:cNvSpPr>
            <a:spLocks noGrp="1"/>
          </p:cNvSpPr>
          <p:nvPr>
            <p:ph type="title"/>
          </p:nvPr>
        </p:nvSpPr>
        <p:spPr>
          <a:xfrm>
            <a:off x="1218882" y="332656"/>
            <a:ext cx="9988098" cy="686052"/>
          </a:xfrm>
        </p:spPr>
        <p:txBody>
          <a:bodyPr>
            <a:normAutofit/>
          </a:bodyPr>
          <a:lstStyle/>
          <a:p>
            <a:pPr algn="ctr"/>
            <a:r>
              <a:rPr lang="en-IN" sz="3600" b="1" dirty="0">
                <a:solidFill>
                  <a:schemeClr val="tx1"/>
                </a:solidFill>
              </a:rPr>
              <a:t>6. </a:t>
            </a:r>
            <a:r>
              <a:rPr lang="en-US" sz="3600" b="1" dirty="0">
                <a:solidFill>
                  <a:schemeClr val="tx1"/>
                </a:solidFill>
              </a:rPr>
              <a:t>SYSTEM TESTING</a:t>
            </a:r>
            <a:endParaRPr lang="en-IN" sz="3600" dirty="0">
              <a:solidFill>
                <a:schemeClr val="tx1"/>
              </a:solidFill>
            </a:endParaRPr>
          </a:p>
        </p:txBody>
      </p:sp>
      <p:sp>
        <p:nvSpPr>
          <p:cNvPr id="3" name="Text Placeholder 2">
            <a:extLst>
              <a:ext uri="{FF2B5EF4-FFF2-40B4-BE49-F238E27FC236}">
                <a16:creationId xmlns:a16="http://schemas.microsoft.com/office/drawing/2014/main" id="{A367070C-EC15-1751-3D2C-EF66ED1FEF75}"/>
              </a:ext>
            </a:extLst>
          </p:cNvPr>
          <p:cNvSpPr>
            <a:spLocks noGrp="1"/>
          </p:cNvSpPr>
          <p:nvPr>
            <p:ph type="body" sz="half" idx="2"/>
          </p:nvPr>
        </p:nvSpPr>
        <p:spPr>
          <a:xfrm>
            <a:off x="1053852" y="1052736"/>
            <a:ext cx="3960440" cy="686052"/>
          </a:xfrm>
        </p:spPr>
        <p:txBody>
          <a:bodyPr>
            <a:normAutofit lnSpcReduction="10000"/>
          </a:bodyPr>
          <a:lstStyle/>
          <a:p>
            <a:r>
              <a:rPr lang="en-IN" sz="2200" b="1" dirty="0"/>
              <a:t>Module 1: User Registration Testing</a:t>
            </a:r>
            <a:endParaRPr lang="en-IN" sz="2200" dirty="0"/>
          </a:p>
          <a:p>
            <a:endParaRPr lang="en-IN" dirty="0"/>
          </a:p>
        </p:txBody>
      </p:sp>
      <p:pic>
        <p:nvPicPr>
          <p:cNvPr id="7" name="Content Placeholder 6">
            <a:extLst>
              <a:ext uri="{FF2B5EF4-FFF2-40B4-BE49-F238E27FC236}">
                <a16:creationId xmlns:a16="http://schemas.microsoft.com/office/drawing/2014/main" id="{F1C42E0B-4C99-9C46-7A6B-AFA63FC4AEF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8882" y="1988840"/>
            <a:ext cx="9988098" cy="4104456"/>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419680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9A58-1049-1DDC-CA39-D8BD26C5964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89CA028-94AC-960A-7953-2C02ABDEA5BD}"/>
              </a:ext>
            </a:extLst>
          </p:cNvPr>
          <p:cNvSpPr>
            <a:spLocks noGrp="1"/>
          </p:cNvSpPr>
          <p:nvPr>
            <p:ph type="body" sz="half" idx="2"/>
          </p:nvPr>
        </p:nvSpPr>
        <p:spPr>
          <a:xfrm>
            <a:off x="1197868" y="404664"/>
            <a:ext cx="3960440" cy="720080"/>
          </a:xfrm>
        </p:spPr>
        <p:txBody>
          <a:bodyPr>
            <a:noAutofit/>
          </a:bodyPr>
          <a:lstStyle/>
          <a:p>
            <a:r>
              <a:rPr lang="en-IN" b="1" dirty="0"/>
              <a:t>Module 2: User Authentication &amp; Login Testing:</a:t>
            </a:r>
            <a:endParaRPr lang="en-IN" dirty="0"/>
          </a:p>
        </p:txBody>
      </p:sp>
      <p:pic>
        <p:nvPicPr>
          <p:cNvPr id="6" name="Content Placeholder 5">
            <a:extLst>
              <a:ext uri="{FF2B5EF4-FFF2-40B4-BE49-F238E27FC236}">
                <a16:creationId xmlns:a16="http://schemas.microsoft.com/office/drawing/2014/main" id="{8D483F84-8411-1CEB-00A2-B9C5A4D9D56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7868" y="1340768"/>
            <a:ext cx="10081120" cy="4608512"/>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682973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7856E4-86AC-2DAB-B708-6E0181873C33}"/>
              </a:ext>
            </a:extLst>
          </p:cNvPr>
          <p:cNvSpPr>
            <a:spLocks noGrp="1"/>
          </p:cNvSpPr>
          <p:nvPr>
            <p:ph type="body" sz="half" idx="2"/>
          </p:nvPr>
        </p:nvSpPr>
        <p:spPr>
          <a:xfrm>
            <a:off x="1197868" y="-315416"/>
            <a:ext cx="3702902" cy="1440160"/>
          </a:xfrm>
        </p:spPr>
        <p:txBody>
          <a:bodyPr/>
          <a:lstStyle/>
          <a:p>
            <a:br>
              <a:rPr lang="en-IN" dirty="0"/>
            </a:br>
            <a:endParaRPr lang="en-IN" dirty="0"/>
          </a:p>
          <a:p>
            <a:r>
              <a:rPr lang="en-IN" b="1" dirty="0"/>
              <a:t>Module 3: Product &amp; Inventory Management Testing:</a:t>
            </a:r>
            <a:endParaRPr lang="en-IN" dirty="0"/>
          </a:p>
          <a:p>
            <a:endParaRPr lang="en-IN" dirty="0"/>
          </a:p>
        </p:txBody>
      </p:sp>
      <p:pic>
        <p:nvPicPr>
          <p:cNvPr id="5" name="Content Placeholder 4">
            <a:extLst>
              <a:ext uri="{FF2B5EF4-FFF2-40B4-BE49-F238E27FC236}">
                <a16:creationId xmlns:a16="http://schemas.microsoft.com/office/drawing/2014/main" id="{716AF052-17C6-DD85-3342-0D5CAAA03E6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7868" y="1484784"/>
            <a:ext cx="10153128" cy="4536504"/>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1654260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DB745-8802-0D4F-1BF2-232A7BEA7A3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BF45D7A-3EA4-F73E-96D4-4B31D4175213}"/>
              </a:ext>
            </a:extLst>
          </p:cNvPr>
          <p:cNvSpPr>
            <a:spLocks noGrp="1"/>
          </p:cNvSpPr>
          <p:nvPr>
            <p:ph type="body" sz="half" idx="2"/>
          </p:nvPr>
        </p:nvSpPr>
        <p:spPr>
          <a:xfrm>
            <a:off x="1197868" y="404664"/>
            <a:ext cx="3960440" cy="792088"/>
          </a:xfrm>
        </p:spPr>
        <p:txBody>
          <a:bodyPr>
            <a:noAutofit/>
          </a:bodyPr>
          <a:lstStyle/>
          <a:p>
            <a:r>
              <a:rPr lang="en-IN" b="1" dirty="0"/>
              <a:t>Module 4: Sales &amp; Point of Sale (POS) Testing:</a:t>
            </a:r>
            <a:endParaRPr lang="en-IN" dirty="0"/>
          </a:p>
        </p:txBody>
      </p:sp>
      <p:pic>
        <p:nvPicPr>
          <p:cNvPr id="6" name="Content Placeholder 5">
            <a:extLst>
              <a:ext uri="{FF2B5EF4-FFF2-40B4-BE49-F238E27FC236}">
                <a16:creationId xmlns:a16="http://schemas.microsoft.com/office/drawing/2014/main" id="{5775099F-EEE5-B0CF-B299-DE0BAFFC427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69876" y="1340768"/>
            <a:ext cx="10153128" cy="4752528"/>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96987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3811-670C-BEFF-0549-641ED6610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A0922-01D4-3CB5-51A2-97798F6FF7BF}"/>
              </a:ext>
            </a:extLst>
          </p:cNvPr>
          <p:cNvSpPr>
            <a:spLocks noGrp="1"/>
          </p:cNvSpPr>
          <p:nvPr>
            <p:ph type="title"/>
          </p:nvPr>
        </p:nvSpPr>
        <p:spPr>
          <a:xfrm>
            <a:off x="1218883" y="274637"/>
            <a:ext cx="10360501" cy="706091"/>
          </a:xfrm>
        </p:spPr>
        <p:txBody>
          <a:bodyPr/>
          <a:lstStyle/>
          <a:p>
            <a:pPr algn="ctr"/>
            <a:r>
              <a:rPr lang="en-US" b="1" dirty="0"/>
              <a:t>7. CONCLUSION</a:t>
            </a:r>
            <a:endParaRPr lang="en-IN" dirty="0"/>
          </a:p>
        </p:txBody>
      </p:sp>
      <p:sp>
        <p:nvSpPr>
          <p:cNvPr id="3" name="Content Placeholder 2">
            <a:extLst>
              <a:ext uri="{FF2B5EF4-FFF2-40B4-BE49-F238E27FC236}">
                <a16:creationId xmlns:a16="http://schemas.microsoft.com/office/drawing/2014/main" id="{9AEFB18B-3AF5-8C46-DA2F-79A4DFB46290}"/>
              </a:ext>
            </a:extLst>
          </p:cNvPr>
          <p:cNvSpPr>
            <a:spLocks noGrp="1"/>
          </p:cNvSpPr>
          <p:nvPr>
            <p:ph idx="1"/>
          </p:nvPr>
        </p:nvSpPr>
        <p:spPr>
          <a:xfrm>
            <a:off x="1218883" y="1052736"/>
            <a:ext cx="10360501" cy="5530627"/>
          </a:xfrm>
        </p:spPr>
        <p:txBody>
          <a:bodyPr>
            <a:noAutofit/>
          </a:bodyPr>
          <a:lstStyle/>
          <a:p>
            <a:r>
              <a:rPr lang="en-IN" sz="2000" dirty="0"/>
              <a:t>The </a:t>
            </a:r>
            <a:r>
              <a:rPr lang="en-IN" sz="2000" b="1" dirty="0"/>
              <a:t>MARKETA Supermarket Management System</a:t>
            </a:r>
            <a:r>
              <a:rPr lang="en-IN" sz="2000" dirty="0"/>
              <a:t> successfully addresses the operational bottlenecks experienced by modern retail stores and supermarkets. Developed using the robust </a:t>
            </a:r>
            <a:r>
              <a:rPr lang="en-IN" sz="2000" b="1" dirty="0"/>
              <a:t>MERN Stack (MongoDB, Express.js, React, Node.js)</a:t>
            </a:r>
            <a:r>
              <a:rPr lang="en-IN" sz="2000" dirty="0"/>
              <a:t> following MVC architectural principles, the system delivers an end-to-end management platform.</a:t>
            </a:r>
          </a:p>
          <a:p>
            <a:r>
              <a:rPr lang="en-IN" sz="2000" dirty="0"/>
              <a:t>Key achievements of the system include:</a:t>
            </a:r>
          </a:p>
          <a:p>
            <a:pPr marL="514350" lvl="0" indent="-514350">
              <a:buFont typeface="+mj-lt"/>
              <a:buAutoNum type="arabicPeriod"/>
            </a:pPr>
            <a:r>
              <a:rPr lang="en-IN" sz="2000" b="1" dirty="0"/>
              <a:t>Streamlined Authentication:</a:t>
            </a:r>
            <a:r>
              <a:rPr lang="en-IN" sz="2000" dirty="0"/>
              <a:t> Secured multi-role access control with Admin approval workflows for newly registered managers.</a:t>
            </a:r>
          </a:p>
          <a:p>
            <a:pPr marL="514350" lvl="0" indent="-514350">
              <a:buFont typeface="+mj-lt"/>
              <a:buAutoNum type="arabicPeriod"/>
            </a:pPr>
            <a:r>
              <a:rPr lang="en-IN" sz="2000" b="1" dirty="0"/>
              <a:t>Automated Stock Deduction:</a:t>
            </a:r>
            <a:r>
              <a:rPr lang="en-IN" sz="2000" dirty="0"/>
              <a:t> POS billing transactions seamlessly calculate taxes, subtotal, discounts, and deduct inventory stock in real time. </a:t>
            </a:r>
          </a:p>
          <a:p>
            <a:pPr marL="514350" lvl="0" indent="-514350">
              <a:buFont typeface="+mj-lt"/>
              <a:buAutoNum type="arabicPeriod"/>
            </a:pPr>
            <a:r>
              <a:rPr lang="en-IN" sz="2000" b="1" dirty="0"/>
              <a:t>Proactive Inventory Monitoring:</a:t>
            </a:r>
            <a:r>
              <a:rPr lang="en-IN" sz="2000" dirty="0"/>
              <a:t> Automated low-stock and out-of-stock notifications prevent stockouts and improve supply chain replenishment.</a:t>
            </a:r>
          </a:p>
          <a:p>
            <a:pPr marL="514350" lvl="0" indent="-514350">
              <a:buFont typeface="+mj-lt"/>
              <a:buAutoNum type="arabicPeriod"/>
            </a:pPr>
            <a:r>
              <a:rPr lang="en-IN" sz="2000" b="1" dirty="0"/>
              <a:t>Comprehensive Analytics:</a:t>
            </a:r>
            <a:r>
              <a:rPr lang="en-IN" sz="2000" dirty="0"/>
              <a:t> Intuitive data visualizer dashboards provide store management with actionable sales and revenue insights.</a:t>
            </a:r>
          </a:p>
          <a:p>
            <a:r>
              <a:rPr lang="en-IN" sz="2000" dirty="0"/>
              <a:t>By combining zero licensing costs, platform independence, real-time stock sync, and a user-friendly POS interface, </a:t>
            </a:r>
            <a:r>
              <a:rPr lang="en-IN" sz="2000" b="1" dirty="0"/>
              <a:t>MARKETA</a:t>
            </a:r>
            <a:r>
              <a:rPr lang="en-IN" sz="2000" dirty="0"/>
              <a:t> provides an efficient, scalable, and cost-effective digital solution for supermarket management.</a:t>
            </a:r>
          </a:p>
        </p:txBody>
      </p:sp>
    </p:spTree>
    <p:extLst>
      <p:ext uri="{BB962C8B-B14F-4D97-AF65-F5344CB8AC3E}">
        <p14:creationId xmlns:p14="http://schemas.microsoft.com/office/powerpoint/2010/main" val="394492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94F37-AA81-FC3A-B7DA-CB72FF6FC82C}"/>
              </a:ext>
            </a:extLst>
          </p:cNvPr>
          <p:cNvSpPr>
            <a:spLocks noGrp="1"/>
          </p:cNvSpPr>
          <p:nvPr>
            <p:ph type="title"/>
          </p:nvPr>
        </p:nvSpPr>
        <p:spPr/>
        <p:txBody>
          <a:bodyPr>
            <a:normAutofit fontScale="90000"/>
          </a:bodyPr>
          <a:lstStyle/>
          <a:p>
            <a:pPr algn="ctr"/>
            <a:br>
              <a:rPr lang="en-US" dirty="0"/>
            </a:br>
            <a:br>
              <a:rPr lang="en-IN" dirty="0"/>
            </a:br>
            <a:r>
              <a:rPr lang="en-US" b="1" dirty="0"/>
              <a:t>8. LEARNING DURING PROJECT WORK</a:t>
            </a:r>
            <a:br>
              <a:rPr lang="en-IN" dirty="0"/>
            </a:br>
            <a:endParaRPr lang="en-IN" dirty="0"/>
          </a:p>
        </p:txBody>
      </p:sp>
      <p:sp>
        <p:nvSpPr>
          <p:cNvPr id="3" name="Content Placeholder 2">
            <a:extLst>
              <a:ext uri="{FF2B5EF4-FFF2-40B4-BE49-F238E27FC236}">
                <a16:creationId xmlns:a16="http://schemas.microsoft.com/office/drawing/2014/main" id="{96B5F1AC-F0A7-AE7A-0849-89CCE87A07A4}"/>
              </a:ext>
            </a:extLst>
          </p:cNvPr>
          <p:cNvSpPr>
            <a:spLocks noGrp="1"/>
          </p:cNvSpPr>
          <p:nvPr>
            <p:ph idx="1"/>
          </p:nvPr>
        </p:nvSpPr>
        <p:spPr>
          <a:xfrm>
            <a:off x="1218883" y="1196752"/>
            <a:ext cx="10360501" cy="5256584"/>
          </a:xfrm>
        </p:spPr>
        <p:txBody>
          <a:bodyPr>
            <a:noAutofit/>
          </a:bodyPr>
          <a:lstStyle/>
          <a:p>
            <a:pPr marL="0" indent="0">
              <a:buNone/>
            </a:pPr>
            <a:r>
              <a:rPr lang="en-IN" sz="2000" dirty="0"/>
              <a:t>During the development of the </a:t>
            </a:r>
            <a:r>
              <a:rPr lang="en-IN" sz="2000" dirty="0" err="1"/>
              <a:t>RunDSA</a:t>
            </a:r>
            <a:r>
              <a:rPr lang="en-IN" sz="2000" dirty="0"/>
              <a:t> project, we gained practical knowledge in several areas:</a:t>
            </a:r>
          </a:p>
          <a:p>
            <a:pPr lvl="0"/>
            <a:r>
              <a:rPr lang="en-IN" sz="2000" dirty="0"/>
              <a:t>Learned complete MERN Stack development. </a:t>
            </a:r>
          </a:p>
          <a:p>
            <a:pPr lvl="0"/>
            <a:r>
              <a:rPr lang="en-IN" sz="2000" dirty="0"/>
              <a:t>Improved React.js component-based development. </a:t>
            </a:r>
          </a:p>
          <a:p>
            <a:pPr lvl="0"/>
            <a:r>
              <a:rPr lang="en-IN" sz="2000" dirty="0"/>
              <a:t>Understood backend API development using Node.js and Express.js. </a:t>
            </a:r>
          </a:p>
          <a:p>
            <a:pPr lvl="0"/>
            <a:r>
              <a:rPr lang="en-IN" sz="2000" dirty="0"/>
              <a:t>Learned MongoDB database design and CRUD operations. </a:t>
            </a:r>
          </a:p>
          <a:p>
            <a:pPr lvl="0"/>
            <a:r>
              <a:rPr lang="en-IN" sz="2000" dirty="0"/>
              <a:t>Implemented secure user authentication using JWT. </a:t>
            </a:r>
          </a:p>
          <a:p>
            <a:pPr lvl="0"/>
            <a:r>
              <a:rPr lang="en-IN" sz="2000" dirty="0"/>
              <a:t>Improved knowledge of REST APIs and frontend-backend integration. </a:t>
            </a:r>
          </a:p>
          <a:p>
            <a:pPr lvl="0"/>
            <a:r>
              <a:rPr lang="en-IN" sz="2000" dirty="0"/>
              <a:t>Learned Git and GitHub for version control. </a:t>
            </a:r>
          </a:p>
          <a:p>
            <a:pPr lvl="0"/>
            <a:r>
              <a:rPr lang="en-IN" sz="2000" dirty="0"/>
              <a:t>Enhanced debugging, testing, and problem-solving skills. </a:t>
            </a:r>
          </a:p>
          <a:p>
            <a:pPr lvl="0"/>
            <a:r>
              <a:rPr lang="en-IN" sz="2000" dirty="0"/>
              <a:t>Improved teamwork, communication, and project documentation skills. </a:t>
            </a:r>
          </a:p>
          <a:p>
            <a:pPr lvl="0"/>
            <a:r>
              <a:rPr lang="en-IN" sz="2000" dirty="0"/>
              <a:t>Gained experience in deploying and maintaining full-stack web applications.</a:t>
            </a:r>
          </a:p>
        </p:txBody>
      </p:sp>
    </p:spTree>
    <p:extLst>
      <p:ext uri="{BB962C8B-B14F-4D97-AF65-F5344CB8AC3E}">
        <p14:creationId xmlns:p14="http://schemas.microsoft.com/office/powerpoint/2010/main" val="233318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80DA4-FC51-4DC7-2D8F-292335B7A005}"/>
              </a:ext>
            </a:extLst>
          </p:cNvPr>
          <p:cNvSpPr>
            <a:spLocks noGrp="1"/>
          </p:cNvSpPr>
          <p:nvPr>
            <p:ph idx="1"/>
          </p:nvPr>
        </p:nvSpPr>
        <p:spPr>
          <a:xfrm>
            <a:off x="1218883" y="476672"/>
            <a:ext cx="10360501" cy="5687397"/>
          </a:xfrm>
        </p:spPr>
        <p:txBody>
          <a:bodyPr>
            <a:normAutofit/>
          </a:bodyPr>
          <a:lstStyle/>
          <a:p>
            <a:pPr>
              <a:buFont typeface="Wingdings" panose="05000000000000000000" pitchFamily="2" charset="2"/>
              <a:buChar char="v"/>
            </a:pPr>
            <a:r>
              <a:rPr lang="en-US" sz="2500" b="1" dirty="0"/>
              <a:t> 8.1 Future Enhancement:</a:t>
            </a:r>
            <a:endParaRPr lang="en-IN" sz="2500" dirty="0"/>
          </a:p>
          <a:p>
            <a:pPr marL="0" indent="0">
              <a:buNone/>
            </a:pPr>
            <a:endParaRPr lang="en-IN" dirty="0"/>
          </a:p>
          <a:p>
            <a:pPr marL="514350" lvl="0" indent="-514350">
              <a:buFont typeface="+mj-lt"/>
              <a:buAutoNum type="arabicPeriod"/>
            </a:pPr>
            <a:r>
              <a:rPr lang="en-IN" sz="2000" b="1" dirty="0"/>
              <a:t>Native </a:t>
            </a:r>
            <a:r>
              <a:rPr lang="en-IN" sz="2000" b="1" dirty="0" err="1"/>
              <a:t>WebHID</a:t>
            </a:r>
            <a:r>
              <a:rPr lang="en-IN" sz="2000" b="1" dirty="0"/>
              <a:t> Barcode Scanner Integration</a:t>
            </a:r>
            <a:r>
              <a:rPr lang="en-IN" sz="2000" dirty="0"/>
              <a:t>: Implementing browser-level </a:t>
            </a:r>
            <a:r>
              <a:rPr lang="en-IN" sz="2000" dirty="0" err="1"/>
              <a:t>WebHID</a:t>
            </a:r>
            <a:r>
              <a:rPr lang="en-IN" sz="2000" dirty="0"/>
              <a:t> and </a:t>
            </a:r>
            <a:r>
              <a:rPr lang="en-IN" sz="2000" dirty="0" err="1"/>
              <a:t>WebUSB</a:t>
            </a:r>
            <a:r>
              <a:rPr lang="en-IN" sz="2000" dirty="0"/>
              <a:t> APIs for zero-latency direct device communication. </a:t>
            </a:r>
          </a:p>
          <a:p>
            <a:pPr marL="514350" lvl="0" indent="-514350">
              <a:buFont typeface="+mj-lt"/>
              <a:buAutoNum type="arabicPeriod"/>
            </a:pPr>
            <a:r>
              <a:rPr lang="en-IN" sz="2000" b="1" dirty="0"/>
              <a:t>Multi-Store Warehouse Synchronization:</a:t>
            </a:r>
            <a:r>
              <a:rPr lang="en-IN" sz="2000" dirty="0"/>
              <a:t> Extending schema architecture to support multi-branch supermarket chains with central warehouse tracking. </a:t>
            </a:r>
          </a:p>
          <a:p>
            <a:pPr marL="514350" lvl="0" indent="-514350">
              <a:buFont typeface="+mj-lt"/>
              <a:buAutoNum type="arabicPeriod"/>
            </a:pPr>
            <a:r>
              <a:rPr lang="en-IN" sz="2000" b="1" dirty="0"/>
              <a:t>AI-Driven Demand Forecasting:</a:t>
            </a:r>
            <a:r>
              <a:rPr lang="en-IN" sz="2000" dirty="0"/>
              <a:t> Machine Learning integration (ARIMA time-series models) for predicting product demand trends and automated supplier purchase order drafting. </a:t>
            </a:r>
          </a:p>
          <a:p>
            <a:pPr marL="514350" lvl="0" indent="-514350">
              <a:buFont typeface="+mj-lt"/>
              <a:buAutoNum type="arabicPeriod"/>
            </a:pPr>
            <a:r>
              <a:rPr lang="en-IN" sz="2000" b="1" dirty="0"/>
              <a:t>Customer Loyalty &amp; Rewards System:</a:t>
            </a:r>
            <a:r>
              <a:rPr lang="en-IN" sz="2000" dirty="0"/>
              <a:t> Points-based customer rewards module integrated into cashier POS checkout. </a:t>
            </a:r>
          </a:p>
          <a:p>
            <a:pPr marL="514350" lvl="0" indent="-514350">
              <a:buFont typeface="+mj-lt"/>
              <a:buAutoNum type="arabicPeriod"/>
            </a:pPr>
            <a:r>
              <a:rPr lang="en-IN" sz="2000" b="1" dirty="0"/>
              <a:t>Offline PWA Support:</a:t>
            </a:r>
            <a:r>
              <a:rPr lang="en-IN" sz="2000" dirty="0"/>
              <a:t> Service Worker and </a:t>
            </a:r>
            <a:r>
              <a:rPr lang="en-IN" sz="2000" dirty="0" err="1"/>
              <a:t>IndexedDB</a:t>
            </a:r>
            <a:r>
              <a:rPr lang="en-IN" sz="2000" dirty="0"/>
              <a:t> integration enabling offline POS billing during network outages.</a:t>
            </a:r>
          </a:p>
          <a:p>
            <a:pPr marL="514350" lvl="0" indent="-514350">
              <a:buFont typeface="+mj-lt"/>
              <a:buAutoNum type="arabicPeriod"/>
            </a:pPr>
            <a:r>
              <a:rPr lang="en-IN" sz="2000" b="1" dirty="0"/>
              <a:t>Integrated Dynamic Payment Gateway:</a:t>
            </a:r>
            <a:r>
              <a:rPr lang="en-IN" sz="2000" dirty="0"/>
              <a:t> Instant UPI QR code generation directly on POS billing screen.</a:t>
            </a:r>
          </a:p>
          <a:p>
            <a:endParaRPr lang="en-IN" dirty="0"/>
          </a:p>
        </p:txBody>
      </p:sp>
    </p:spTree>
    <p:extLst>
      <p:ext uri="{BB962C8B-B14F-4D97-AF65-F5344CB8AC3E}">
        <p14:creationId xmlns:p14="http://schemas.microsoft.com/office/powerpoint/2010/main" val="78779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00F4-8582-F956-747F-37B5B67155A7}"/>
              </a:ext>
            </a:extLst>
          </p:cNvPr>
          <p:cNvSpPr>
            <a:spLocks noGrp="1"/>
          </p:cNvSpPr>
          <p:nvPr>
            <p:ph type="title"/>
          </p:nvPr>
        </p:nvSpPr>
        <p:spPr>
          <a:xfrm>
            <a:off x="1218883" y="274637"/>
            <a:ext cx="10360501" cy="994123"/>
          </a:xfrm>
        </p:spPr>
        <p:txBody>
          <a:bodyPr>
            <a:normAutofit fontScale="90000"/>
          </a:bodyPr>
          <a:lstStyle/>
          <a:p>
            <a:pPr algn="ctr"/>
            <a:br>
              <a:rPr lang="en-US" b="1" dirty="0"/>
            </a:br>
            <a:br>
              <a:rPr lang="en-IN" dirty="0"/>
            </a:br>
            <a:r>
              <a:rPr lang="en-US" b="1" dirty="0"/>
              <a:t>9. BIBLIOGRAPHY</a:t>
            </a:r>
            <a:br>
              <a:rPr lang="en-IN" dirty="0"/>
            </a:br>
            <a:endParaRPr lang="en-IN" dirty="0"/>
          </a:p>
        </p:txBody>
      </p:sp>
      <p:sp>
        <p:nvSpPr>
          <p:cNvPr id="3" name="Content Placeholder 2">
            <a:extLst>
              <a:ext uri="{FF2B5EF4-FFF2-40B4-BE49-F238E27FC236}">
                <a16:creationId xmlns:a16="http://schemas.microsoft.com/office/drawing/2014/main" id="{66CCAABA-97CF-E503-834B-92D1728FAB42}"/>
              </a:ext>
            </a:extLst>
          </p:cNvPr>
          <p:cNvSpPr>
            <a:spLocks noGrp="1"/>
          </p:cNvSpPr>
          <p:nvPr>
            <p:ph idx="1"/>
          </p:nvPr>
        </p:nvSpPr>
        <p:spPr>
          <a:xfrm>
            <a:off x="1218883" y="908720"/>
            <a:ext cx="10360501" cy="5760640"/>
          </a:xfrm>
        </p:spPr>
        <p:txBody>
          <a:bodyPr>
            <a:normAutofit fontScale="40000" lnSpcReduction="20000"/>
          </a:bodyPr>
          <a:lstStyle/>
          <a:p>
            <a:r>
              <a:rPr lang="en-US" sz="6300" b="1" dirty="0"/>
              <a:t>9.1 Online References: </a:t>
            </a:r>
            <a:endParaRPr lang="en-IN" sz="6300" dirty="0"/>
          </a:p>
          <a:p>
            <a:pPr marL="514350" lvl="0" indent="-514350">
              <a:buFont typeface="+mj-lt"/>
              <a:buAutoNum type="arabicPeriod"/>
            </a:pPr>
            <a:r>
              <a:rPr lang="en-IN" sz="4500" b="1" dirty="0"/>
              <a:t>Node.js Official Documentation (v18.x LTS)</a:t>
            </a:r>
            <a:br>
              <a:rPr lang="en-IN" sz="4500" dirty="0"/>
            </a:br>
            <a:r>
              <a:rPr lang="en-IN" sz="4500" b="1" dirty="0"/>
              <a:t>URL: </a:t>
            </a:r>
            <a:r>
              <a:rPr lang="en-IN" sz="4500" u="sng" dirty="0">
                <a:hlinkClick r:id="rId2"/>
              </a:rPr>
              <a:t>https://nodejs.org/docs/latest-v18.x/api/</a:t>
            </a:r>
            <a:br>
              <a:rPr lang="en-IN" sz="4500" dirty="0"/>
            </a:br>
            <a:r>
              <a:rPr lang="en-IN" sz="4500" b="1" dirty="0"/>
              <a:t>Usage:</a:t>
            </a:r>
            <a:r>
              <a:rPr lang="en-IN" sz="4500" dirty="0"/>
              <a:t> Referred for ES Modules configuration, asynchronous event handling, and process management.</a:t>
            </a:r>
          </a:p>
          <a:p>
            <a:pPr marL="514350" lvl="0" indent="-514350">
              <a:buFont typeface="+mj-lt"/>
              <a:buAutoNum type="arabicPeriod"/>
            </a:pPr>
            <a:r>
              <a:rPr lang="en-IN" sz="4500" b="1" dirty="0"/>
              <a:t>React 18 Developer Documentation</a:t>
            </a:r>
            <a:br>
              <a:rPr lang="en-IN" sz="4500" dirty="0"/>
            </a:br>
            <a:r>
              <a:rPr lang="en-IN" sz="4500" b="1" dirty="0"/>
              <a:t>URL: </a:t>
            </a:r>
            <a:r>
              <a:rPr lang="en-IN" sz="4500" u="sng" dirty="0">
                <a:hlinkClick r:id="rId3"/>
              </a:rPr>
              <a:t>https://react.dev</a:t>
            </a:r>
            <a:br>
              <a:rPr lang="en-IN" sz="4500" dirty="0"/>
            </a:br>
            <a:r>
              <a:rPr lang="en-IN" sz="4500" b="1" dirty="0"/>
              <a:t>Usage:</a:t>
            </a:r>
            <a:r>
              <a:rPr lang="en-IN" sz="4500" dirty="0"/>
              <a:t> Referred for functional components, custom hooks, Context API, and state management. </a:t>
            </a:r>
          </a:p>
          <a:p>
            <a:pPr marL="514350" lvl="0" indent="-514350">
              <a:buFont typeface="+mj-lt"/>
              <a:buAutoNum type="arabicPeriod"/>
            </a:pPr>
            <a:r>
              <a:rPr lang="en-IN" sz="4500" b="1" dirty="0"/>
              <a:t>Express.js API Reference (v4.x)</a:t>
            </a:r>
            <a:br>
              <a:rPr lang="en-IN" sz="4500" dirty="0"/>
            </a:br>
            <a:r>
              <a:rPr lang="en-IN" sz="4500" b="1" dirty="0"/>
              <a:t>URL:</a:t>
            </a:r>
            <a:r>
              <a:rPr lang="en-IN" sz="4500" dirty="0"/>
              <a:t> </a:t>
            </a:r>
            <a:r>
              <a:rPr lang="en-IN" sz="4500" u="sng" dirty="0">
                <a:hlinkClick r:id="rId4"/>
              </a:rPr>
              <a:t>https://expressjs.com/en/4x/api.html</a:t>
            </a:r>
            <a:br>
              <a:rPr lang="en-IN" sz="4500" dirty="0"/>
            </a:br>
            <a:r>
              <a:rPr lang="en-IN" sz="4500" b="1" dirty="0"/>
              <a:t>Usage:</a:t>
            </a:r>
            <a:r>
              <a:rPr lang="en-IN" sz="4500" dirty="0"/>
              <a:t> Referred for RESTful routing, custom middleware implementation, and error-handling controllers. </a:t>
            </a:r>
          </a:p>
          <a:p>
            <a:pPr marL="514350" lvl="0" indent="-514350">
              <a:buFont typeface="+mj-lt"/>
              <a:buAutoNum type="arabicPeriod"/>
            </a:pPr>
            <a:r>
              <a:rPr lang="en-IN" sz="4500" b="1" dirty="0"/>
              <a:t>MongoDB &amp; Mongoose Object Data </a:t>
            </a:r>
            <a:r>
              <a:rPr lang="en-IN" sz="4500" b="1" dirty="0" err="1"/>
              <a:t>Modeling</a:t>
            </a:r>
            <a:r>
              <a:rPr lang="en-IN" sz="4500" b="1" dirty="0"/>
              <a:t> Guide</a:t>
            </a:r>
            <a:br>
              <a:rPr lang="en-IN" sz="4500" dirty="0"/>
            </a:br>
            <a:r>
              <a:rPr lang="en-IN" sz="4500" b="1" dirty="0"/>
              <a:t>URL:</a:t>
            </a:r>
            <a:r>
              <a:rPr lang="en-IN" sz="4500" dirty="0"/>
              <a:t> </a:t>
            </a:r>
            <a:r>
              <a:rPr lang="en-IN" sz="4500" u="sng" dirty="0">
                <a:hlinkClick r:id="rId5"/>
              </a:rPr>
              <a:t>https://mongoosejs.com/docs/api.html</a:t>
            </a:r>
            <a:br>
              <a:rPr lang="en-IN" sz="4500" dirty="0"/>
            </a:br>
            <a:r>
              <a:rPr lang="en-IN" sz="4500" b="1" dirty="0"/>
              <a:t>Usage</a:t>
            </a:r>
            <a:r>
              <a:rPr lang="en-IN" sz="4500" b="1" i="1" dirty="0"/>
              <a:t>:</a:t>
            </a:r>
            <a:r>
              <a:rPr lang="en-IN" sz="4500" dirty="0"/>
              <a:t> Referred for schema creation, population references, aggregate pipelines, and query optimization. </a:t>
            </a:r>
          </a:p>
          <a:p>
            <a:pPr marL="514350" lvl="0" indent="-514350">
              <a:buFont typeface="+mj-lt"/>
              <a:buAutoNum type="arabicPeriod"/>
            </a:pPr>
            <a:r>
              <a:rPr lang="en-IN" sz="4500" b="1" dirty="0"/>
              <a:t>Vite Frontend Tooling Guide</a:t>
            </a:r>
            <a:br>
              <a:rPr lang="en-IN" sz="4500" dirty="0"/>
            </a:br>
            <a:r>
              <a:rPr lang="en-IN" sz="4500" b="1" dirty="0"/>
              <a:t>URL: </a:t>
            </a:r>
            <a:r>
              <a:rPr lang="en-IN" sz="4500" u="sng" dirty="0">
                <a:hlinkClick r:id="rId6"/>
              </a:rPr>
              <a:t>https://vitejs.dev/guide/</a:t>
            </a:r>
            <a:br>
              <a:rPr lang="en-IN" sz="4500" dirty="0"/>
            </a:br>
            <a:r>
              <a:rPr lang="en-IN" sz="4500" b="1" dirty="0"/>
              <a:t>Usage:</a:t>
            </a:r>
            <a:r>
              <a:rPr lang="en-IN" sz="4500" dirty="0"/>
              <a:t> Referred for frontend bundling, HMR configuration, and asset optimization.</a:t>
            </a:r>
          </a:p>
          <a:p>
            <a:pPr marL="514350" lvl="0" indent="-514350">
              <a:buFont typeface="+mj-lt"/>
              <a:buAutoNum type="arabicPeriod"/>
            </a:pPr>
            <a:r>
              <a:rPr lang="en-IN" sz="4500" b="1" dirty="0"/>
              <a:t>MDN Web Docs (Mozilla Developer Network)</a:t>
            </a:r>
            <a:br>
              <a:rPr lang="en-IN" sz="4500" dirty="0"/>
            </a:br>
            <a:r>
              <a:rPr lang="en-IN" sz="4500" b="1" dirty="0"/>
              <a:t>URL: </a:t>
            </a:r>
            <a:r>
              <a:rPr lang="en-IN" sz="4500" u="sng" dirty="0">
                <a:hlinkClick r:id="rId7"/>
              </a:rPr>
              <a:t>https://developer.mozilla.org</a:t>
            </a:r>
            <a:br>
              <a:rPr lang="en-IN" sz="4500" dirty="0"/>
            </a:br>
            <a:r>
              <a:rPr lang="en-IN" sz="4500" b="1" dirty="0"/>
              <a:t>Usage:</a:t>
            </a:r>
            <a:r>
              <a:rPr lang="en-IN" sz="4500" dirty="0"/>
              <a:t> Referred for REST API standards, HTTP status code specifications, and local storage Web APIs.</a:t>
            </a:r>
          </a:p>
        </p:txBody>
      </p:sp>
    </p:spTree>
    <p:extLst>
      <p:ext uri="{BB962C8B-B14F-4D97-AF65-F5344CB8AC3E}">
        <p14:creationId xmlns:p14="http://schemas.microsoft.com/office/powerpoint/2010/main" val="2924197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17785-4B10-2538-90AF-DA709E17B018}"/>
              </a:ext>
            </a:extLst>
          </p:cNvPr>
          <p:cNvSpPr>
            <a:spLocks noGrp="1"/>
          </p:cNvSpPr>
          <p:nvPr>
            <p:ph idx="1"/>
          </p:nvPr>
        </p:nvSpPr>
        <p:spPr>
          <a:xfrm>
            <a:off x="1197868" y="1340768"/>
            <a:ext cx="10360501" cy="4462272"/>
          </a:xfrm>
        </p:spPr>
        <p:txBody>
          <a:bodyPr>
            <a:normAutofit lnSpcReduction="10000"/>
          </a:bodyPr>
          <a:lstStyle/>
          <a:p>
            <a:r>
              <a:rPr lang="en-US" sz="2500" b="1" dirty="0"/>
              <a:t>9.2 Offline References:</a:t>
            </a:r>
            <a:endParaRPr lang="en-IN" sz="2500" dirty="0"/>
          </a:p>
          <a:p>
            <a:pPr marL="0" indent="0">
              <a:buNone/>
            </a:pPr>
            <a:endParaRPr lang="en-IN" dirty="0"/>
          </a:p>
          <a:p>
            <a:pPr lvl="0"/>
            <a:r>
              <a:rPr lang="en-IN" sz="2200" dirty="0"/>
              <a:t>College lecture notes and practical manuals related to MERN Stack and Data Structures. </a:t>
            </a:r>
          </a:p>
          <a:p>
            <a:pPr lvl="0"/>
            <a:r>
              <a:rPr lang="en-IN" sz="2200" dirty="0"/>
              <a:t>Project guidance provided by the Faculty of Computer Applications, Marwadi University.</a:t>
            </a:r>
          </a:p>
          <a:p>
            <a:pPr lvl="0"/>
            <a:r>
              <a:rPr lang="en-US" sz="2200" dirty="0"/>
              <a:t>A. Silberschatz, H. F. Korth, and S. Sudarshan, Database System Concepts, 6th ed. New York, NY, USA: McGraw-Hill, 2019. </a:t>
            </a:r>
            <a:endParaRPr lang="en-IN" sz="2200" dirty="0"/>
          </a:p>
          <a:p>
            <a:pPr lvl="0"/>
            <a:r>
              <a:rPr lang="en-US" sz="2200" dirty="0"/>
              <a:t>R. Elmasri and S. B. Navathe, Fundamentals of Database Systems, 7th ed. Boston, MA, USA: Pearson, 2016.</a:t>
            </a:r>
            <a:endParaRPr lang="en-IN" sz="2200" dirty="0"/>
          </a:p>
          <a:p>
            <a:r>
              <a:rPr lang="en-IN" sz="2200" b="1" dirty="0"/>
              <a:t> </a:t>
            </a:r>
            <a:endParaRPr lang="en-IN" sz="2200" dirty="0"/>
          </a:p>
          <a:p>
            <a:endParaRPr lang="en-IN" dirty="0"/>
          </a:p>
        </p:txBody>
      </p:sp>
    </p:spTree>
    <p:extLst>
      <p:ext uri="{BB962C8B-B14F-4D97-AF65-F5344CB8AC3E}">
        <p14:creationId xmlns:p14="http://schemas.microsoft.com/office/powerpoint/2010/main" val="136948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D969D-7ACE-B623-C5AA-678D88C9E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B46AA-CEAA-8F01-D710-F678AF68DFCE}"/>
              </a:ext>
            </a:extLst>
          </p:cNvPr>
          <p:cNvSpPr>
            <a:spLocks noGrp="1"/>
          </p:cNvSpPr>
          <p:nvPr>
            <p:ph type="ctrTitle"/>
          </p:nvPr>
        </p:nvSpPr>
        <p:spPr>
          <a:xfrm>
            <a:off x="2638028" y="3429000"/>
            <a:ext cx="8735325" cy="1476648"/>
          </a:xfrm>
        </p:spPr>
        <p:txBody>
          <a:bodyPr/>
          <a:lstStyle/>
          <a:p>
            <a:pPr algn="r"/>
            <a:r>
              <a:rPr lang="en-US" b="1" dirty="0"/>
              <a:t>Thank You</a:t>
            </a:r>
            <a:endParaRPr lang="en-IN" dirty="0"/>
          </a:p>
        </p:txBody>
      </p:sp>
    </p:spTree>
    <p:extLst>
      <p:ext uri="{BB962C8B-B14F-4D97-AF65-F5344CB8AC3E}">
        <p14:creationId xmlns:p14="http://schemas.microsoft.com/office/powerpoint/2010/main" val="200682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162</TotalTime>
  <Words>3215</Words>
  <Application>Microsoft Office PowerPoint</Application>
  <PresentationFormat>Custom</PresentationFormat>
  <Paragraphs>319</Paragraphs>
  <Slides>63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Nimbus Roman No9 L</vt:lpstr>
      <vt:lpstr>Wingdings</vt:lpstr>
      <vt:lpstr>Tech 16x9</vt:lpstr>
      <vt:lpstr>Marketa</vt:lpstr>
      <vt:lpstr>1. Introduction to Project Definition </vt:lpstr>
      <vt:lpstr>PowerPoint Presentation</vt:lpstr>
      <vt:lpstr>2. PREAMBLE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REVIEW OF LITERATURE</vt:lpstr>
      <vt:lpstr>PowerPoint Presentation</vt:lpstr>
      <vt:lpstr>PowerPoint Presentation</vt:lpstr>
      <vt:lpstr>     4. TECHNICAL DESCRIPTION </vt:lpstr>
      <vt:lpstr>PowerPoint Presentation</vt:lpstr>
      <vt:lpstr>PowerPoint Presentation</vt:lpstr>
      <vt:lpstr>5. SYSTEM DESIGN AND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 SYSTEM TESTING</vt:lpstr>
      <vt:lpstr>PowerPoint Presentation</vt:lpstr>
      <vt:lpstr>PowerPoint Presentation</vt:lpstr>
      <vt:lpstr>PowerPoint Presentation</vt:lpstr>
      <vt:lpstr>7. CONCLUSION</vt:lpstr>
      <vt:lpstr>  8. LEARNING DURING PROJECT WORK </vt:lpstr>
      <vt:lpstr>PowerPoint Presentation</vt:lpstr>
      <vt:lpstr>  9. BIBLIOGRAPHY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Nevil Aghera</dc:creator>
  <cp:lastModifiedBy>JENIL KOTHIYA</cp:lastModifiedBy>
  <cp:revision>80</cp:revision>
  <dcterms:created xsi:type="dcterms:W3CDTF">2026-08-19T12:52:04Z</dcterms:created>
  <dcterms:modified xsi:type="dcterms:W3CDTF">2026-09-07T11:18:34Z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